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74" r:id="rId3"/>
    <p:sldId id="257" r:id="rId4"/>
    <p:sldId id="258" r:id="rId5"/>
    <p:sldId id="259" r:id="rId6"/>
    <p:sldId id="266" r:id="rId7"/>
    <p:sldId id="272" r:id="rId8"/>
    <p:sldId id="262" r:id="rId9"/>
    <p:sldId id="263" r:id="rId10"/>
    <p:sldId id="264" r:id="rId11"/>
    <p:sldId id="275" r:id="rId12"/>
    <p:sldId id="276" r:id="rId13"/>
    <p:sldId id="277" r:id="rId14"/>
    <p:sldId id="278" r:id="rId15"/>
    <p:sldId id="273" r:id="rId16"/>
    <p:sldId id="270" r:id="rId17"/>
    <p:sldId id="271" r:id="rId18"/>
    <p:sldId id="267" r:id="rId1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839114-6FE7-4FC0-90AF-A591A26E7741}" v="2" dt="2025-11-27T09:33:16.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109" d="100"/>
          <a:sy n="109" d="100"/>
        </p:scale>
        <p:origin x="73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992DA9DB-DDFD-4B81-AF54-1E8710C6E9F5}" type="datetimeFigureOut">
              <a:rPr lang="en-US" smtClean="0"/>
              <a:t>11/27/2025</a:t>
            </a:fld>
            <a:endParaRPr lang="en-US"/>
          </a:p>
        </p:txBody>
      </p:sp>
      <p:sp>
        <p:nvSpPr>
          <p:cNvPr id="4" name="Slide Image Placeholder 3"/>
          <p:cNvSpPr>
            <a:spLocks noGrp="1" noRot="1" noChangeAspect="1"/>
          </p:cNvSpPr>
          <p:nvPr>
            <p:ph type="sldImg" idx="2"/>
          </p:nvPr>
        </p:nvSpPr>
        <p:spPr>
          <a:xfrm>
            <a:off x="2857500" y="385763"/>
            <a:ext cx="3429000" cy="1928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43163"/>
            <a:ext cx="7315200" cy="23145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4738"/>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4738"/>
            <a:ext cx="3962400" cy="257175"/>
          </a:xfrm>
          <a:prstGeom prst="rect">
            <a:avLst/>
          </a:prstGeom>
        </p:spPr>
        <p:txBody>
          <a:bodyPr vert="horz" lIns="91440" tIns="45720" rIns="91440" bIns="45720" rtlCol="0" anchor="b"/>
          <a:lstStyle>
            <a:lvl1pPr algn="r">
              <a:defRPr sz="1200"/>
            </a:lvl1pPr>
          </a:lstStyle>
          <a:p>
            <a:fld id="{86641CBB-A41C-4F5E-8253-96BC3E1AB30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6641CBB-A41C-4F5E-8253-96BC3E1AB304}"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700" b="1" i="0" u="heavy">
                <a:solidFill>
                  <a:srgbClr val="2A3890"/>
                </a:solidFill>
                <a:latin typeface="Roboto"/>
                <a:cs typeface="Roboto"/>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54895" y="3903669"/>
            <a:ext cx="989330" cy="988060"/>
          </a:xfrm>
          <a:custGeom>
            <a:avLst/>
            <a:gdLst/>
            <a:ahLst/>
            <a:cxnLst/>
            <a:rect l="l" t="t" r="r" b="b"/>
            <a:pathLst>
              <a:path w="989329" h="988060">
                <a:moveTo>
                  <a:pt x="989099" y="987899"/>
                </a:moveTo>
                <a:lnTo>
                  <a:pt x="0" y="987899"/>
                </a:lnTo>
                <a:lnTo>
                  <a:pt x="0" y="0"/>
                </a:lnTo>
                <a:lnTo>
                  <a:pt x="989099" y="987899"/>
                </a:lnTo>
                <a:close/>
              </a:path>
            </a:pathLst>
          </a:custGeom>
          <a:solidFill>
            <a:srgbClr val="F06292"/>
          </a:solidFill>
        </p:spPr>
        <p:txBody>
          <a:bodyPr wrap="square" lIns="0" tIns="0" rIns="0" bIns="0" rtlCol="0"/>
          <a:lstStyle/>
          <a:p>
            <a:endParaRPr/>
          </a:p>
        </p:txBody>
      </p:sp>
      <p:sp>
        <p:nvSpPr>
          <p:cNvPr id="17" name="bg object 17"/>
          <p:cNvSpPr/>
          <p:nvPr/>
        </p:nvSpPr>
        <p:spPr>
          <a:xfrm>
            <a:off x="6181163" y="3903669"/>
            <a:ext cx="989330" cy="988060"/>
          </a:xfrm>
          <a:custGeom>
            <a:avLst/>
            <a:gdLst/>
            <a:ahLst/>
            <a:cxnLst/>
            <a:rect l="l" t="t" r="r" b="b"/>
            <a:pathLst>
              <a:path w="989329" h="988060">
                <a:moveTo>
                  <a:pt x="989100" y="987899"/>
                </a:moveTo>
                <a:lnTo>
                  <a:pt x="0" y="987899"/>
                </a:lnTo>
                <a:lnTo>
                  <a:pt x="989100" y="0"/>
                </a:lnTo>
                <a:lnTo>
                  <a:pt x="989100" y="987899"/>
                </a:lnTo>
                <a:close/>
              </a:path>
            </a:pathLst>
          </a:custGeom>
          <a:solidFill>
            <a:srgbClr val="F06292"/>
          </a:solidFill>
        </p:spPr>
        <p:txBody>
          <a:bodyPr wrap="square" lIns="0" tIns="0" rIns="0" bIns="0" rtlCol="0"/>
          <a:lstStyle/>
          <a:p>
            <a:endParaRPr/>
          </a:p>
        </p:txBody>
      </p:sp>
      <p:sp>
        <p:nvSpPr>
          <p:cNvPr id="18" name="bg object 18"/>
          <p:cNvSpPr/>
          <p:nvPr/>
        </p:nvSpPr>
        <p:spPr>
          <a:xfrm>
            <a:off x="7170273" y="3903669"/>
            <a:ext cx="989330" cy="988060"/>
          </a:xfrm>
          <a:custGeom>
            <a:avLst/>
            <a:gdLst/>
            <a:ahLst/>
            <a:cxnLst/>
            <a:rect l="l" t="t" r="r" b="b"/>
            <a:pathLst>
              <a:path w="989329" h="988060">
                <a:moveTo>
                  <a:pt x="989099" y="987899"/>
                </a:moveTo>
                <a:lnTo>
                  <a:pt x="0" y="987899"/>
                </a:lnTo>
                <a:lnTo>
                  <a:pt x="0" y="0"/>
                </a:lnTo>
                <a:lnTo>
                  <a:pt x="989099" y="0"/>
                </a:lnTo>
                <a:lnTo>
                  <a:pt x="989099" y="987899"/>
                </a:lnTo>
                <a:close/>
              </a:path>
            </a:pathLst>
          </a:custGeom>
          <a:solidFill>
            <a:srgbClr val="D13368"/>
          </a:solidFill>
        </p:spPr>
        <p:txBody>
          <a:bodyPr wrap="square" lIns="0" tIns="0" rIns="0" bIns="0" rtlCol="0"/>
          <a:lstStyle/>
          <a:p>
            <a:endParaRPr/>
          </a:p>
        </p:txBody>
      </p:sp>
      <p:sp>
        <p:nvSpPr>
          <p:cNvPr id="19" name="bg object 19"/>
          <p:cNvSpPr/>
          <p:nvPr/>
        </p:nvSpPr>
        <p:spPr>
          <a:xfrm>
            <a:off x="8154757" y="3903681"/>
            <a:ext cx="989330" cy="988060"/>
          </a:xfrm>
          <a:custGeom>
            <a:avLst/>
            <a:gdLst/>
            <a:ahLst/>
            <a:cxnLst/>
            <a:rect l="l" t="t" r="r" b="b"/>
            <a:pathLst>
              <a:path w="989329" h="988060">
                <a:moveTo>
                  <a:pt x="989099" y="987899"/>
                </a:moveTo>
                <a:lnTo>
                  <a:pt x="0" y="0"/>
                </a:lnTo>
                <a:lnTo>
                  <a:pt x="989099" y="0"/>
                </a:lnTo>
                <a:lnTo>
                  <a:pt x="989099" y="987899"/>
                </a:lnTo>
                <a:close/>
              </a:path>
            </a:pathLst>
          </a:custGeom>
          <a:solidFill>
            <a:srgbClr val="9B254D"/>
          </a:solidFill>
        </p:spPr>
        <p:txBody>
          <a:bodyPr wrap="square" lIns="0" tIns="0" rIns="0" bIns="0" rtlCol="0"/>
          <a:lstStyle/>
          <a:p>
            <a:endParaRPr/>
          </a:p>
        </p:txBody>
      </p:sp>
      <p:sp>
        <p:nvSpPr>
          <p:cNvPr id="20" name="bg object 20"/>
          <p:cNvSpPr/>
          <p:nvPr/>
        </p:nvSpPr>
        <p:spPr>
          <a:xfrm>
            <a:off x="0" y="4891594"/>
            <a:ext cx="9144000" cy="252095"/>
          </a:xfrm>
          <a:custGeom>
            <a:avLst/>
            <a:gdLst/>
            <a:ahLst/>
            <a:cxnLst/>
            <a:rect l="l" t="t" r="r" b="b"/>
            <a:pathLst>
              <a:path w="9144000" h="252095">
                <a:moveTo>
                  <a:pt x="9143999" y="251999"/>
                </a:moveTo>
                <a:lnTo>
                  <a:pt x="0" y="251999"/>
                </a:lnTo>
                <a:lnTo>
                  <a:pt x="0" y="0"/>
                </a:lnTo>
                <a:lnTo>
                  <a:pt x="9143999" y="0"/>
                </a:lnTo>
                <a:lnTo>
                  <a:pt x="9143999" y="251999"/>
                </a:lnTo>
                <a:close/>
              </a:path>
            </a:pathLst>
          </a:custGeom>
          <a:solidFill>
            <a:srgbClr val="2A3890"/>
          </a:solidFill>
        </p:spPr>
        <p:txBody>
          <a:bodyPr wrap="square" lIns="0" tIns="0" rIns="0" bIns="0" rtlCol="0"/>
          <a:lstStyle/>
          <a:p>
            <a:endParaRPr/>
          </a:p>
        </p:txBody>
      </p:sp>
      <p:sp>
        <p:nvSpPr>
          <p:cNvPr id="2" name="Holder 2"/>
          <p:cNvSpPr>
            <a:spLocks noGrp="1"/>
          </p:cNvSpPr>
          <p:nvPr>
            <p:ph type="title"/>
          </p:nvPr>
        </p:nvSpPr>
        <p:spPr>
          <a:xfrm>
            <a:off x="753588" y="127230"/>
            <a:ext cx="7160259" cy="992686"/>
          </a:xfrm>
          <a:prstGeom prst="rect">
            <a:avLst/>
          </a:prstGeom>
        </p:spPr>
        <p:txBody>
          <a:bodyPr wrap="square" lIns="0" tIns="0" rIns="0" bIns="0">
            <a:spAutoFit/>
          </a:bodyPr>
          <a:lstStyle>
            <a:lvl1pPr>
              <a:defRPr sz="2700" b="1" i="0" u="heavy">
                <a:solidFill>
                  <a:srgbClr val="2A3890"/>
                </a:solidFill>
                <a:latin typeface="Roboto"/>
                <a:cs typeface="Roboto"/>
              </a:defRPr>
            </a:lvl1pPr>
          </a:lstStyle>
          <a:p>
            <a:endParaRPr/>
          </a:p>
        </p:txBody>
      </p:sp>
      <p:sp>
        <p:nvSpPr>
          <p:cNvPr id="3" name="Holder 3"/>
          <p:cNvSpPr>
            <a:spLocks noGrp="1"/>
          </p:cNvSpPr>
          <p:nvPr>
            <p:ph type="body" idx="1"/>
          </p:nvPr>
        </p:nvSpPr>
        <p:spPr>
          <a:xfrm>
            <a:off x="2483853" y="1688786"/>
            <a:ext cx="4117340" cy="1031239"/>
          </a:xfrm>
          <a:prstGeom prst="rect">
            <a:avLst/>
          </a:prstGeom>
        </p:spPr>
        <p:txBody>
          <a:bodyPr wrap="square" lIns="0" tIns="0" rIns="0" bIns="0">
            <a:spAutoFit/>
          </a:bodyPr>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11/27/2025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76"/>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A3890"/>
          </a:solidFill>
        </p:spPr>
        <p:txBody>
          <a:bodyPr wrap="square" lIns="0" tIns="0" rIns="0" bIns="0" rtlCol="0"/>
          <a:lstStyle/>
          <a:p>
            <a:endParaRPr lang="en-IN" dirty="0"/>
          </a:p>
        </p:txBody>
      </p:sp>
      <p:grpSp>
        <p:nvGrpSpPr>
          <p:cNvPr id="3" name="object 3"/>
          <p:cNvGrpSpPr/>
          <p:nvPr/>
        </p:nvGrpSpPr>
        <p:grpSpPr>
          <a:xfrm>
            <a:off x="6092043" y="22363"/>
            <a:ext cx="3046095" cy="2030730"/>
            <a:chOff x="6098378" y="0"/>
            <a:chExt cx="3046095" cy="2030730"/>
          </a:xfrm>
        </p:grpSpPr>
        <p:sp>
          <p:nvSpPr>
            <p:cNvPr id="4" name="object 4"/>
            <p:cNvSpPr/>
            <p:nvPr/>
          </p:nvSpPr>
          <p:spPr>
            <a:xfrm>
              <a:off x="8128803" y="16"/>
              <a:ext cx="1015365" cy="1015365"/>
            </a:xfrm>
            <a:custGeom>
              <a:avLst/>
              <a:gdLst/>
              <a:ahLst/>
              <a:cxnLst/>
              <a:rect l="l" t="t" r="r" b="b"/>
              <a:pathLst>
                <a:path w="1015365" h="1015365">
                  <a:moveTo>
                    <a:pt x="1015199" y="1015199"/>
                  </a:moveTo>
                  <a:lnTo>
                    <a:pt x="0" y="1015199"/>
                  </a:lnTo>
                  <a:lnTo>
                    <a:pt x="0" y="0"/>
                  </a:lnTo>
                  <a:lnTo>
                    <a:pt x="1015199" y="0"/>
                  </a:lnTo>
                  <a:lnTo>
                    <a:pt x="1015199" y="1015199"/>
                  </a:lnTo>
                  <a:close/>
                </a:path>
              </a:pathLst>
            </a:custGeom>
            <a:solidFill>
              <a:srgbClr val="212D73"/>
            </a:solidFill>
          </p:spPr>
          <p:txBody>
            <a:bodyPr wrap="square" lIns="0" tIns="0" rIns="0" bIns="0" rtlCol="0"/>
            <a:lstStyle/>
            <a:p>
              <a:endParaRPr dirty="0"/>
            </a:p>
          </p:txBody>
        </p:sp>
        <p:sp>
          <p:nvSpPr>
            <p:cNvPr id="5" name="object 5"/>
            <p:cNvSpPr/>
            <p:nvPr/>
          </p:nvSpPr>
          <p:spPr>
            <a:xfrm>
              <a:off x="7113463" y="4"/>
              <a:ext cx="1015365" cy="1015365"/>
            </a:xfrm>
            <a:custGeom>
              <a:avLst/>
              <a:gdLst/>
              <a:ahLst/>
              <a:cxnLst/>
              <a:rect l="l" t="t" r="r" b="b"/>
              <a:pathLst>
                <a:path w="1015365" h="1015365">
                  <a:moveTo>
                    <a:pt x="1015199" y="1015199"/>
                  </a:moveTo>
                  <a:lnTo>
                    <a:pt x="0" y="1015199"/>
                  </a:lnTo>
                  <a:lnTo>
                    <a:pt x="1015199" y="0"/>
                  </a:lnTo>
                  <a:lnTo>
                    <a:pt x="1015199" y="1015199"/>
                  </a:lnTo>
                  <a:close/>
                </a:path>
              </a:pathLst>
            </a:custGeom>
            <a:solidFill>
              <a:srgbClr val="3849AB"/>
            </a:solidFill>
          </p:spPr>
          <p:txBody>
            <a:bodyPr wrap="square" lIns="0" tIns="0" rIns="0" bIns="0" rtlCol="0"/>
            <a:lstStyle/>
            <a:p>
              <a:endParaRPr dirty="0"/>
            </a:p>
          </p:txBody>
        </p:sp>
        <p:sp>
          <p:nvSpPr>
            <p:cNvPr id="6" name="object 6"/>
            <p:cNvSpPr/>
            <p:nvPr/>
          </p:nvSpPr>
          <p:spPr>
            <a:xfrm>
              <a:off x="7113588" y="106"/>
              <a:ext cx="1015365" cy="1015365"/>
            </a:xfrm>
            <a:custGeom>
              <a:avLst/>
              <a:gdLst/>
              <a:ahLst/>
              <a:cxnLst/>
              <a:rect l="l" t="t" r="r" b="b"/>
              <a:pathLst>
                <a:path w="1015365" h="1015365">
                  <a:moveTo>
                    <a:pt x="0" y="1015199"/>
                  </a:moveTo>
                  <a:lnTo>
                    <a:pt x="0" y="0"/>
                  </a:lnTo>
                  <a:lnTo>
                    <a:pt x="1015199" y="0"/>
                  </a:lnTo>
                  <a:lnTo>
                    <a:pt x="0" y="1015199"/>
                  </a:lnTo>
                  <a:close/>
                </a:path>
              </a:pathLst>
            </a:custGeom>
            <a:solidFill>
              <a:srgbClr val="7890CD"/>
            </a:solidFill>
          </p:spPr>
          <p:txBody>
            <a:bodyPr wrap="square" lIns="0" tIns="0" rIns="0" bIns="0" rtlCol="0"/>
            <a:lstStyle/>
            <a:p>
              <a:endParaRPr dirty="0"/>
            </a:p>
          </p:txBody>
        </p:sp>
        <p:sp>
          <p:nvSpPr>
            <p:cNvPr id="7" name="object 7"/>
            <p:cNvSpPr/>
            <p:nvPr/>
          </p:nvSpPr>
          <p:spPr>
            <a:xfrm>
              <a:off x="6098378" y="96"/>
              <a:ext cx="1015365" cy="1015365"/>
            </a:xfrm>
            <a:custGeom>
              <a:avLst/>
              <a:gdLst/>
              <a:ahLst/>
              <a:cxnLst/>
              <a:rect l="l" t="t" r="r" b="b"/>
              <a:pathLst>
                <a:path w="1015365" h="1015365">
                  <a:moveTo>
                    <a:pt x="1015199" y="1015199"/>
                  </a:moveTo>
                  <a:lnTo>
                    <a:pt x="0" y="0"/>
                  </a:lnTo>
                  <a:lnTo>
                    <a:pt x="1015199" y="0"/>
                  </a:lnTo>
                  <a:lnTo>
                    <a:pt x="1015199" y="1015199"/>
                  </a:lnTo>
                  <a:close/>
                </a:path>
              </a:pathLst>
            </a:custGeom>
            <a:solidFill>
              <a:srgbClr val="212D73"/>
            </a:solidFill>
          </p:spPr>
          <p:txBody>
            <a:bodyPr wrap="square" lIns="0" tIns="0" rIns="0" bIns="0" rtlCol="0"/>
            <a:lstStyle/>
            <a:p>
              <a:endParaRPr dirty="0"/>
            </a:p>
          </p:txBody>
        </p:sp>
        <p:sp>
          <p:nvSpPr>
            <p:cNvPr id="8" name="object 8"/>
            <p:cNvSpPr/>
            <p:nvPr/>
          </p:nvSpPr>
          <p:spPr>
            <a:xfrm>
              <a:off x="8128789" y="1015375"/>
              <a:ext cx="1015365" cy="1015365"/>
            </a:xfrm>
            <a:custGeom>
              <a:avLst/>
              <a:gdLst/>
              <a:ahLst/>
              <a:cxnLst/>
              <a:rect l="l" t="t" r="r" b="b"/>
              <a:pathLst>
                <a:path w="1015365" h="1015364">
                  <a:moveTo>
                    <a:pt x="1015199" y="1015199"/>
                  </a:moveTo>
                  <a:lnTo>
                    <a:pt x="0" y="0"/>
                  </a:lnTo>
                  <a:lnTo>
                    <a:pt x="1015199" y="0"/>
                  </a:lnTo>
                  <a:lnTo>
                    <a:pt x="1015199" y="1015199"/>
                  </a:lnTo>
                  <a:close/>
                </a:path>
              </a:pathLst>
            </a:custGeom>
            <a:solidFill>
              <a:srgbClr val="7890CD"/>
            </a:solidFill>
          </p:spPr>
          <p:txBody>
            <a:bodyPr wrap="square" lIns="0" tIns="0" rIns="0" bIns="0" rtlCol="0"/>
            <a:lstStyle/>
            <a:p>
              <a:endParaRPr dirty="0"/>
            </a:p>
          </p:txBody>
        </p:sp>
        <p:pic>
          <p:nvPicPr>
            <p:cNvPr id="9" name="object 9"/>
            <p:cNvPicPr/>
            <p:nvPr/>
          </p:nvPicPr>
          <p:blipFill>
            <a:blip r:embed="rId2" cstate="print"/>
            <a:stretch>
              <a:fillRect/>
            </a:stretch>
          </p:blipFill>
          <p:spPr>
            <a:xfrm>
              <a:off x="7572184" y="0"/>
              <a:ext cx="1571815" cy="1520464"/>
            </a:xfrm>
            <a:prstGeom prst="rect">
              <a:avLst/>
            </a:prstGeom>
          </p:spPr>
        </p:pic>
      </p:grpSp>
      <p:sp>
        <p:nvSpPr>
          <p:cNvPr id="10" name="object 10"/>
          <p:cNvSpPr txBox="1">
            <a:spLocks noGrp="1"/>
          </p:cNvSpPr>
          <p:nvPr>
            <p:ph type="body" idx="1"/>
          </p:nvPr>
        </p:nvSpPr>
        <p:spPr>
          <a:xfrm>
            <a:off x="76200" y="1445655"/>
            <a:ext cx="8915400" cy="1405513"/>
          </a:xfrm>
          <a:prstGeom prst="rect">
            <a:avLst/>
          </a:prstGeom>
        </p:spPr>
        <p:txBody>
          <a:bodyPr vert="horz" wrap="square" lIns="0" tIns="12700" rIns="0" bIns="0" rtlCol="0">
            <a:spAutoFit/>
          </a:bodyPr>
          <a:lstStyle/>
          <a:p>
            <a:pPr marL="12700" marR="5080" algn="ctr">
              <a:lnSpc>
                <a:spcPct val="100000"/>
              </a:lnSpc>
              <a:spcBef>
                <a:spcPts val="100"/>
              </a:spcBef>
            </a:pPr>
            <a:r>
              <a:rPr dirty="0"/>
              <a:t>M</a:t>
            </a:r>
            <a:r>
              <a:rPr lang="en-IN" dirty="0" err="1"/>
              <a:t>ini</a:t>
            </a:r>
            <a:r>
              <a:rPr lang="en-IN" dirty="0"/>
              <a:t> </a:t>
            </a:r>
            <a:r>
              <a:rPr dirty="0"/>
              <a:t>Project</a:t>
            </a:r>
            <a:r>
              <a:rPr spc="-80" dirty="0"/>
              <a:t> </a:t>
            </a:r>
            <a:r>
              <a:rPr dirty="0"/>
              <a:t>–</a:t>
            </a:r>
            <a:r>
              <a:rPr lang="en-IN" dirty="0"/>
              <a:t>Presentation</a:t>
            </a:r>
          </a:p>
          <a:p>
            <a:pPr marL="12700" marR="5080" algn="ctr">
              <a:lnSpc>
                <a:spcPct val="100000"/>
              </a:lnSpc>
              <a:spcBef>
                <a:spcPts val="100"/>
              </a:spcBef>
            </a:pPr>
            <a:r>
              <a:rPr spc="-25" dirty="0"/>
              <a:t>On</a:t>
            </a:r>
            <a:endParaRPr lang="en-US" spc="-25" dirty="0"/>
          </a:p>
          <a:p>
            <a:pPr marL="12700" marR="5080" algn="ctr">
              <a:lnSpc>
                <a:spcPct val="100000"/>
              </a:lnSpc>
              <a:spcBef>
                <a:spcPts val="100"/>
              </a:spcBef>
            </a:pPr>
            <a:r>
              <a:rPr lang="en-IN" spc="-25" dirty="0"/>
              <a:t>“</a:t>
            </a:r>
            <a:r>
              <a:rPr lang="en-US" spc="-25" dirty="0" err="1"/>
              <a:t>BiblioTrack</a:t>
            </a:r>
            <a:r>
              <a:rPr lang="en-US" b="0" spc="-25" dirty="0"/>
              <a:t> -</a:t>
            </a:r>
            <a:r>
              <a:rPr lang="en-US" spc="-25" dirty="0"/>
              <a:t>An AI-Powered Bookstore ” </a:t>
            </a:r>
          </a:p>
          <a:p>
            <a:pPr marL="12700" marR="5080" algn="ctr">
              <a:lnSpc>
                <a:spcPct val="100000"/>
              </a:lnSpc>
              <a:spcBef>
                <a:spcPts val="100"/>
              </a:spcBef>
            </a:pPr>
            <a:r>
              <a:rPr lang="en-US" b="0" spc="-50" dirty="0">
                <a:latin typeface="Times New Roman"/>
                <a:cs typeface="Times New Roman"/>
              </a:rPr>
              <a:t>Group Number - 01 </a:t>
            </a:r>
            <a:endParaRPr b="0" spc="-25" dirty="0">
              <a:latin typeface="Times New Roman"/>
              <a:cs typeface="Times New Roman"/>
            </a:endParaRPr>
          </a:p>
        </p:txBody>
      </p:sp>
      <p:sp>
        <p:nvSpPr>
          <p:cNvPr id="11" name="object 11"/>
          <p:cNvSpPr txBox="1"/>
          <p:nvPr/>
        </p:nvSpPr>
        <p:spPr>
          <a:xfrm>
            <a:off x="6665906" y="3007184"/>
            <a:ext cx="2020894" cy="1597873"/>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Roboto"/>
                <a:cs typeface="Roboto"/>
              </a:rPr>
              <a:t>Under</a:t>
            </a:r>
            <a:r>
              <a:rPr sz="1400" b="1" spc="-30" dirty="0">
                <a:solidFill>
                  <a:srgbClr val="FFFFFF"/>
                </a:solidFill>
                <a:latin typeface="Roboto"/>
                <a:cs typeface="Roboto"/>
              </a:rPr>
              <a:t> </a:t>
            </a:r>
            <a:r>
              <a:rPr sz="1400" b="1" dirty="0">
                <a:solidFill>
                  <a:srgbClr val="FFFFFF"/>
                </a:solidFill>
                <a:latin typeface="Roboto"/>
                <a:cs typeface="Roboto"/>
              </a:rPr>
              <a:t>the</a:t>
            </a:r>
            <a:r>
              <a:rPr sz="1400" b="1" spc="-25" dirty="0">
                <a:solidFill>
                  <a:srgbClr val="FFFFFF"/>
                </a:solidFill>
                <a:latin typeface="Roboto"/>
                <a:cs typeface="Roboto"/>
              </a:rPr>
              <a:t> </a:t>
            </a:r>
            <a:r>
              <a:rPr sz="1400" b="1" dirty="0">
                <a:solidFill>
                  <a:srgbClr val="FFFFFF"/>
                </a:solidFill>
                <a:latin typeface="Roboto"/>
                <a:cs typeface="Roboto"/>
              </a:rPr>
              <a:t>Guidance</a:t>
            </a:r>
            <a:r>
              <a:rPr sz="1400" b="1" spc="-25" dirty="0">
                <a:solidFill>
                  <a:srgbClr val="FFFFFF"/>
                </a:solidFill>
                <a:latin typeface="Roboto"/>
                <a:cs typeface="Roboto"/>
              </a:rPr>
              <a:t> Of</a:t>
            </a:r>
            <a:r>
              <a:rPr lang="en-US" sz="1400" b="1" spc="-25" dirty="0">
                <a:solidFill>
                  <a:srgbClr val="FFFFFF"/>
                </a:solidFill>
                <a:latin typeface="Roboto"/>
                <a:cs typeface="Roboto"/>
              </a:rPr>
              <a:t>,</a:t>
            </a:r>
          </a:p>
          <a:p>
            <a:pPr marL="12700">
              <a:lnSpc>
                <a:spcPct val="100000"/>
              </a:lnSpc>
              <a:spcBef>
                <a:spcPts val="100"/>
              </a:spcBef>
            </a:pPr>
            <a:endParaRPr lang="en-US" sz="1400" b="1" spc="-25" dirty="0">
              <a:solidFill>
                <a:srgbClr val="FFFFFF"/>
              </a:solidFill>
              <a:latin typeface="Roboto"/>
              <a:cs typeface="Roboto"/>
            </a:endParaRPr>
          </a:p>
          <a:p>
            <a:pPr marL="12700">
              <a:lnSpc>
                <a:spcPct val="100000"/>
              </a:lnSpc>
              <a:spcBef>
                <a:spcPts val="100"/>
              </a:spcBef>
            </a:pPr>
            <a:r>
              <a:rPr lang="en-US" sz="1400" b="1" spc="-25" dirty="0" err="1">
                <a:solidFill>
                  <a:srgbClr val="FFFFFF"/>
                </a:solidFill>
                <a:latin typeface="Times New Roman" panose="02020603050405020304" pitchFamily="18" charset="0"/>
                <a:cs typeface="Times New Roman" panose="02020603050405020304" pitchFamily="18" charset="0"/>
              </a:rPr>
              <a:t>Prof.Gagana</a:t>
            </a:r>
            <a:r>
              <a:rPr lang="en-US" sz="1400" b="1" spc="-25" dirty="0">
                <a:solidFill>
                  <a:srgbClr val="FFFFFF"/>
                </a:solidFill>
                <a:latin typeface="Times New Roman" panose="02020603050405020304" pitchFamily="18" charset="0"/>
                <a:cs typeface="Times New Roman" panose="02020603050405020304" pitchFamily="18" charset="0"/>
              </a:rPr>
              <a:t> </a:t>
            </a:r>
            <a:r>
              <a:rPr lang="en-US" sz="1400" b="1" spc="-25" dirty="0" err="1">
                <a:solidFill>
                  <a:srgbClr val="FFFFFF"/>
                </a:solidFill>
                <a:latin typeface="Times New Roman" panose="02020603050405020304" pitchFamily="18" charset="0"/>
                <a:cs typeface="Times New Roman" panose="02020603050405020304" pitchFamily="18" charset="0"/>
              </a:rPr>
              <a:t>Deepa</a:t>
            </a:r>
            <a:r>
              <a:rPr lang="en-US" sz="1400" b="1" spc="-25" dirty="0">
                <a:solidFill>
                  <a:srgbClr val="FFFFFF"/>
                </a:solidFill>
                <a:latin typeface="Times New Roman" panose="02020603050405020304" pitchFamily="18" charset="0"/>
                <a:cs typeface="Times New Roman" panose="02020603050405020304" pitchFamily="18" charset="0"/>
              </a:rPr>
              <a:t> J</a:t>
            </a:r>
            <a:r>
              <a:rPr lang="en-US" sz="1400" dirty="0">
                <a:solidFill>
                  <a:srgbClr val="FFFFFF"/>
                </a:solidFill>
                <a:latin typeface="Trebuchet MS"/>
                <a:cs typeface="Trebuchet MS"/>
              </a:rPr>
              <a:t> </a:t>
            </a:r>
          </a:p>
          <a:p>
            <a:pPr marL="12700">
              <a:lnSpc>
                <a:spcPct val="100000"/>
              </a:lnSpc>
              <a:spcBef>
                <a:spcPts val="100"/>
              </a:spcBef>
            </a:pPr>
            <a:r>
              <a:rPr lang="en-US" sz="1400" dirty="0">
                <a:solidFill>
                  <a:srgbClr val="FFFFFF"/>
                </a:solidFill>
                <a:latin typeface="Times New Roman" pitchFamily="18" charset="0"/>
                <a:cs typeface="Times New Roman" pitchFamily="18" charset="0"/>
              </a:rPr>
              <a:t>Asst. Professor</a:t>
            </a:r>
          </a:p>
          <a:p>
            <a:pPr marL="12700">
              <a:lnSpc>
                <a:spcPct val="100000"/>
              </a:lnSpc>
              <a:spcBef>
                <a:spcPts val="100"/>
              </a:spcBef>
            </a:pPr>
            <a:r>
              <a:rPr lang="en-US" sz="1400" dirty="0">
                <a:solidFill>
                  <a:srgbClr val="FFFFFF"/>
                </a:solidFill>
                <a:latin typeface="Times New Roman" pitchFamily="18" charset="0"/>
                <a:cs typeface="Times New Roman" pitchFamily="18" charset="0"/>
              </a:rPr>
              <a:t>Dept  of  Data Science</a:t>
            </a:r>
          </a:p>
          <a:p>
            <a:pPr marL="12700">
              <a:lnSpc>
                <a:spcPct val="100000"/>
              </a:lnSpc>
              <a:spcBef>
                <a:spcPts val="100"/>
              </a:spcBef>
            </a:pPr>
            <a:r>
              <a:rPr lang="en-US" sz="1400" dirty="0">
                <a:solidFill>
                  <a:srgbClr val="FFFFFF"/>
                </a:solidFill>
                <a:latin typeface="Times New Roman" pitchFamily="18" charset="0"/>
                <a:cs typeface="Times New Roman" pitchFamily="18" charset="0"/>
              </a:rPr>
              <a:t>AIT, </a:t>
            </a:r>
            <a:r>
              <a:rPr lang="en-US" sz="1400" dirty="0" err="1">
                <a:solidFill>
                  <a:srgbClr val="FFFFFF"/>
                </a:solidFill>
                <a:latin typeface="Times New Roman" pitchFamily="18" charset="0"/>
                <a:cs typeface="Times New Roman" pitchFamily="18" charset="0"/>
              </a:rPr>
              <a:t>Chikkamagaluru</a:t>
            </a:r>
            <a:endParaRPr lang="en-US" sz="1400" dirty="0">
              <a:latin typeface="Times New Roman" pitchFamily="18" charset="0"/>
              <a:cs typeface="Times New Roman" pitchFamily="18" charset="0"/>
            </a:endParaRPr>
          </a:p>
          <a:p>
            <a:pPr marL="12700">
              <a:lnSpc>
                <a:spcPct val="100000"/>
              </a:lnSpc>
              <a:spcBef>
                <a:spcPts val="100"/>
              </a:spcBef>
            </a:pPr>
            <a:endParaRPr lang="en-US" sz="1400" b="1" spc="-25" dirty="0">
              <a:solidFill>
                <a:srgbClr val="FFFFFF"/>
              </a:solidFill>
              <a:latin typeface="Times New Roman" pitchFamily="18" charset="0"/>
              <a:cs typeface="Times New Roman" pitchFamily="18" charset="0"/>
            </a:endParaRPr>
          </a:p>
        </p:txBody>
      </p:sp>
      <p:sp>
        <p:nvSpPr>
          <p:cNvPr id="12" name="object 12"/>
          <p:cNvSpPr txBox="1"/>
          <p:nvPr/>
        </p:nvSpPr>
        <p:spPr>
          <a:xfrm>
            <a:off x="368786" y="3007184"/>
            <a:ext cx="4127014" cy="1369606"/>
          </a:xfrm>
          <a:prstGeom prst="rect">
            <a:avLst/>
          </a:prstGeom>
        </p:spPr>
        <p:txBody>
          <a:bodyPr vert="horz" wrap="square" lIns="0" tIns="12700" rIns="0" bIns="0" rtlCol="0">
            <a:spAutoFit/>
          </a:bodyPr>
          <a:lstStyle/>
          <a:p>
            <a:pPr marL="12700" marR="5080">
              <a:lnSpc>
                <a:spcPct val="100000"/>
              </a:lnSpc>
              <a:spcBef>
                <a:spcPts val="100"/>
              </a:spcBef>
            </a:pPr>
            <a:r>
              <a:rPr sz="1400" b="1" dirty="0">
                <a:solidFill>
                  <a:srgbClr val="FFFFFF"/>
                </a:solidFill>
                <a:latin typeface="Roboto"/>
                <a:cs typeface="Roboto"/>
              </a:rPr>
              <a:t>Presented</a:t>
            </a:r>
            <a:r>
              <a:rPr sz="1400" b="1" spc="-30" dirty="0">
                <a:solidFill>
                  <a:srgbClr val="FFFFFF"/>
                </a:solidFill>
                <a:latin typeface="Roboto"/>
                <a:cs typeface="Roboto"/>
              </a:rPr>
              <a:t> </a:t>
            </a:r>
            <a:r>
              <a:rPr sz="1400" b="1" spc="-35" dirty="0">
                <a:solidFill>
                  <a:srgbClr val="FFFFFF"/>
                </a:solidFill>
                <a:latin typeface="Roboto"/>
                <a:cs typeface="Roboto"/>
              </a:rPr>
              <a:t>By, </a:t>
            </a:r>
            <a:endParaRPr lang="en-US" sz="1400" b="1" spc="-35" dirty="0">
              <a:solidFill>
                <a:srgbClr val="FFFFFF"/>
              </a:solidFill>
              <a:latin typeface="Roboto"/>
              <a:cs typeface="Roboto"/>
            </a:endParaRPr>
          </a:p>
          <a:p>
            <a:pPr marL="12700" marR="5080">
              <a:lnSpc>
                <a:spcPct val="100000"/>
              </a:lnSpc>
              <a:spcBef>
                <a:spcPts val="100"/>
              </a:spcBef>
            </a:pPr>
            <a:endParaRPr lang="en-IN" sz="1400" b="1" spc="-35" dirty="0">
              <a:solidFill>
                <a:srgbClr val="FFFFFF"/>
              </a:solidFill>
              <a:latin typeface="Roboto"/>
              <a:cs typeface="Roboto"/>
            </a:endParaRPr>
          </a:p>
          <a:p>
            <a:pPr marL="12700" marR="5080">
              <a:lnSpc>
                <a:spcPct val="100000"/>
              </a:lnSpc>
              <a:spcBef>
                <a:spcPts val="100"/>
              </a:spcBef>
            </a:pPr>
            <a:r>
              <a:rPr lang="en-IN" sz="1400" dirty="0">
                <a:solidFill>
                  <a:schemeClr val="bg1"/>
                </a:solidFill>
                <a:latin typeface="Times New Roman" panose="02020603050405020304" pitchFamily="18" charset="0"/>
                <a:cs typeface="Times New Roman" panose="02020603050405020304" pitchFamily="18" charset="0"/>
              </a:rPr>
              <a:t>Harshitha S (4AI23CD019)</a:t>
            </a:r>
          </a:p>
          <a:p>
            <a:pPr marL="12700" marR="5080">
              <a:lnSpc>
                <a:spcPct val="100000"/>
              </a:lnSpc>
              <a:spcBef>
                <a:spcPts val="100"/>
              </a:spcBef>
            </a:pPr>
            <a:r>
              <a:rPr lang="en-IN" sz="1400" dirty="0">
                <a:solidFill>
                  <a:schemeClr val="bg1"/>
                </a:solidFill>
                <a:latin typeface="Times New Roman" panose="02020603050405020304" pitchFamily="18" charset="0"/>
                <a:cs typeface="Times New Roman" panose="02020603050405020304" pitchFamily="18" charset="0"/>
              </a:rPr>
              <a:t>Prajna K S (4AI23CD038)</a:t>
            </a:r>
          </a:p>
          <a:p>
            <a:pPr marL="12700" marR="5080">
              <a:lnSpc>
                <a:spcPct val="100000"/>
              </a:lnSpc>
              <a:spcBef>
                <a:spcPts val="100"/>
              </a:spcBef>
            </a:pPr>
            <a:r>
              <a:rPr lang="en-IN" sz="1400" dirty="0">
                <a:solidFill>
                  <a:schemeClr val="bg1"/>
                </a:solidFill>
                <a:latin typeface="Times New Roman" panose="02020603050405020304" pitchFamily="18" charset="0"/>
                <a:cs typeface="Times New Roman" panose="02020603050405020304" pitchFamily="18" charset="0"/>
              </a:rPr>
              <a:t>Ramya Manjunath Gouda (4AI23CD041)</a:t>
            </a:r>
          </a:p>
          <a:p>
            <a:pPr marL="12700" marR="5080">
              <a:lnSpc>
                <a:spcPct val="100000"/>
              </a:lnSpc>
              <a:spcBef>
                <a:spcPts val="100"/>
              </a:spcBef>
            </a:pPr>
            <a:r>
              <a:rPr lang="en-IN" sz="1400" dirty="0">
                <a:solidFill>
                  <a:schemeClr val="bg1"/>
                </a:solidFill>
                <a:latin typeface="Times New Roman" panose="02020603050405020304" pitchFamily="18" charset="0"/>
                <a:cs typeface="Times New Roman" panose="02020603050405020304" pitchFamily="18" charset="0"/>
              </a:rPr>
              <a:t>Shalini M B (4AI23CD048)</a:t>
            </a:r>
            <a:endParaRPr sz="1400" dirty="0">
              <a:solidFill>
                <a:schemeClr val="bg1"/>
              </a:solidFill>
              <a:latin typeface="Times New Roman" panose="02020603050405020304" pitchFamily="18" charset="0"/>
              <a:cs typeface="Times New Roman" panose="02020603050405020304" pitchFamily="18" charset="0"/>
            </a:endParaRPr>
          </a:p>
        </p:txBody>
      </p:sp>
      <p:pic>
        <p:nvPicPr>
          <p:cNvPr id="13" name="object 13"/>
          <p:cNvPicPr/>
          <p:nvPr/>
        </p:nvPicPr>
        <p:blipFill>
          <a:blip r:embed="rId3" cstate="print"/>
          <a:stretch>
            <a:fillRect/>
          </a:stretch>
        </p:blipFill>
        <p:spPr>
          <a:xfrm>
            <a:off x="173750" y="64025"/>
            <a:ext cx="1352224" cy="1381624"/>
          </a:xfrm>
          <a:prstGeom prst="rect">
            <a:avLst/>
          </a:prstGeom>
        </p:spPr>
      </p:pic>
      <p:sp>
        <p:nvSpPr>
          <p:cNvPr id="14" name="object 14"/>
          <p:cNvSpPr txBox="1">
            <a:spLocks noGrp="1"/>
          </p:cNvSpPr>
          <p:nvPr>
            <p:ph type="title"/>
          </p:nvPr>
        </p:nvSpPr>
        <p:spPr>
          <a:xfrm>
            <a:off x="2145852" y="271557"/>
            <a:ext cx="4249420" cy="848360"/>
          </a:xfrm>
          <a:prstGeom prst="rect">
            <a:avLst/>
          </a:prstGeom>
        </p:spPr>
        <p:txBody>
          <a:bodyPr vert="horz" wrap="square" lIns="0" tIns="12700" rIns="0" bIns="0" rtlCol="0">
            <a:spAutoFit/>
          </a:bodyPr>
          <a:lstStyle/>
          <a:p>
            <a:pPr marL="1270" algn="ctr">
              <a:lnSpc>
                <a:spcPct val="100000"/>
              </a:lnSpc>
              <a:spcBef>
                <a:spcPts val="100"/>
              </a:spcBef>
            </a:pPr>
            <a:r>
              <a:rPr sz="1800" u="none" dirty="0">
                <a:solidFill>
                  <a:srgbClr val="F1F1F1"/>
                </a:solidFill>
              </a:rPr>
              <a:t>Dept.</a:t>
            </a:r>
            <a:r>
              <a:rPr sz="1800" u="none" spc="-35" dirty="0">
                <a:solidFill>
                  <a:srgbClr val="F1F1F1"/>
                </a:solidFill>
              </a:rPr>
              <a:t> </a:t>
            </a:r>
            <a:r>
              <a:rPr sz="1800" u="none" dirty="0">
                <a:solidFill>
                  <a:srgbClr val="F1F1F1"/>
                </a:solidFill>
              </a:rPr>
              <a:t>of</a:t>
            </a:r>
            <a:r>
              <a:rPr sz="1800" u="none" spc="-30" dirty="0">
                <a:solidFill>
                  <a:srgbClr val="F1F1F1"/>
                </a:solidFill>
              </a:rPr>
              <a:t> </a:t>
            </a:r>
            <a:r>
              <a:rPr sz="1800" u="none" dirty="0">
                <a:solidFill>
                  <a:srgbClr val="F1F1F1"/>
                </a:solidFill>
              </a:rPr>
              <a:t>CS&amp;E</a:t>
            </a:r>
            <a:r>
              <a:rPr sz="1800" u="none" spc="-30" dirty="0">
                <a:solidFill>
                  <a:srgbClr val="F1F1F1"/>
                </a:solidFill>
              </a:rPr>
              <a:t> </a:t>
            </a:r>
            <a:r>
              <a:rPr sz="1800" u="none" dirty="0">
                <a:solidFill>
                  <a:srgbClr val="F1F1F1"/>
                </a:solidFill>
              </a:rPr>
              <a:t>(</a:t>
            </a:r>
            <a:r>
              <a:rPr sz="1800" u="none" spc="-30" dirty="0">
                <a:solidFill>
                  <a:srgbClr val="F1F1F1"/>
                </a:solidFill>
              </a:rPr>
              <a:t> </a:t>
            </a:r>
            <a:r>
              <a:rPr sz="1800" u="none" dirty="0">
                <a:solidFill>
                  <a:srgbClr val="F1F1F1"/>
                </a:solidFill>
              </a:rPr>
              <a:t>DATA</a:t>
            </a:r>
            <a:r>
              <a:rPr sz="1800" u="none" spc="-30" dirty="0">
                <a:solidFill>
                  <a:srgbClr val="F1F1F1"/>
                </a:solidFill>
              </a:rPr>
              <a:t> </a:t>
            </a:r>
            <a:r>
              <a:rPr sz="1800" u="none" spc="-10" dirty="0">
                <a:solidFill>
                  <a:srgbClr val="F1F1F1"/>
                </a:solidFill>
              </a:rPr>
              <a:t>SCIENCE)</a:t>
            </a:r>
            <a:endParaRPr sz="1800"/>
          </a:p>
          <a:p>
            <a:pPr marL="12700" marR="5080" algn="ctr">
              <a:lnSpc>
                <a:spcPct val="100000"/>
              </a:lnSpc>
            </a:pPr>
            <a:r>
              <a:rPr sz="1800" u="none" dirty="0">
                <a:solidFill>
                  <a:srgbClr val="F1F1F1"/>
                </a:solidFill>
              </a:rPr>
              <a:t>Adichunchanagiri</a:t>
            </a:r>
            <a:r>
              <a:rPr sz="1800" u="none" spc="-35" dirty="0">
                <a:solidFill>
                  <a:srgbClr val="F1F1F1"/>
                </a:solidFill>
              </a:rPr>
              <a:t> </a:t>
            </a:r>
            <a:r>
              <a:rPr sz="1800" u="none" spc="-10" dirty="0">
                <a:solidFill>
                  <a:srgbClr val="F1F1F1"/>
                </a:solidFill>
              </a:rPr>
              <a:t>Institute</a:t>
            </a:r>
            <a:r>
              <a:rPr sz="1800" u="none" spc="-35" dirty="0">
                <a:solidFill>
                  <a:srgbClr val="F1F1F1"/>
                </a:solidFill>
              </a:rPr>
              <a:t> </a:t>
            </a:r>
            <a:r>
              <a:rPr sz="1800" u="none" dirty="0">
                <a:solidFill>
                  <a:srgbClr val="F1F1F1"/>
                </a:solidFill>
              </a:rPr>
              <a:t>of</a:t>
            </a:r>
            <a:r>
              <a:rPr sz="1800" u="none" spc="-80" dirty="0">
                <a:solidFill>
                  <a:srgbClr val="F1F1F1"/>
                </a:solidFill>
              </a:rPr>
              <a:t> </a:t>
            </a:r>
            <a:r>
              <a:rPr sz="1800" u="none" spc="-10" dirty="0">
                <a:solidFill>
                  <a:srgbClr val="F1F1F1"/>
                </a:solidFill>
              </a:rPr>
              <a:t>Technology </a:t>
            </a:r>
            <a:r>
              <a:rPr sz="1800" u="none" dirty="0">
                <a:solidFill>
                  <a:srgbClr val="F1F1F1"/>
                </a:solidFill>
              </a:rPr>
              <a:t>Chikkamagaluru</a:t>
            </a:r>
            <a:r>
              <a:rPr sz="1800" u="none" spc="-80" dirty="0">
                <a:solidFill>
                  <a:srgbClr val="F1F1F1"/>
                </a:solidFill>
              </a:rPr>
              <a:t> </a:t>
            </a:r>
            <a:r>
              <a:rPr sz="1800" u="none" dirty="0">
                <a:solidFill>
                  <a:srgbClr val="F1F1F1"/>
                </a:solidFill>
              </a:rPr>
              <a:t>-</a:t>
            </a:r>
            <a:r>
              <a:rPr sz="1800" u="none" spc="-75" dirty="0">
                <a:solidFill>
                  <a:srgbClr val="F1F1F1"/>
                </a:solidFill>
              </a:rPr>
              <a:t> </a:t>
            </a:r>
            <a:r>
              <a:rPr sz="1800" u="none" spc="-10" dirty="0">
                <a:solidFill>
                  <a:srgbClr val="F1F1F1"/>
                </a:solidFill>
              </a:rPr>
              <a:t>577102</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E22F-0578-D5FF-3F4E-A6EA8EB14754}"/>
              </a:ext>
            </a:extLst>
          </p:cNvPr>
          <p:cNvSpPr>
            <a:spLocks noGrp="1"/>
          </p:cNvSpPr>
          <p:nvPr>
            <p:ph type="ctrTitle"/>
          </p:nvPr>
        </p:nvSpPr>
        <p:spPr>
          <a:xfrm>
            <a:off x="3657600" y="57150"/>
            <a:ext cx="4800600" cy="415498"/>
          </a:xfrm>
        </p:spPr>
        <p:txBody>
          <a:bodyPr/>
          <a:lstStyle/>
          <a:p>
            <a:r>
              <a:rPr lang="en-IN" dirty="0"/>
              <a:t>Contents</a:t>
            </a:r>
          </a:p>
        </p:txBody>
      </p:sp>
      <p:sp>
        <p:nvSpPr>
          <p:cNvPr id="3" name="Subtitle 2">
            <a:extLst>
              <a:ext uri="{FF2B5EF4-FFF2-40B4-BE49-F238E27FC236}">
                <a16:creationId xmlns:a16="http://schemas.microsoft.com/office/drawing/2014/main" id="{672F3EB8-E537-1A50-3462-31F4F10F6758}"/>
              </a:ext>
            </a:extLst>
          </p:cNvPr>
          <p:cNvSpPr>
            <a:spLocks noGrp="1"/>
          </p:cNvSpPr>
          <p:nvPr>
            <p:ph type="subTitle" idx="4"/>
          </p:nvPr>
        </p:nvSpPr>
        <p:spPr>
          <a:xfrm>
            <a:off x="381000" y="590550"/>
            <a:ext cx="6888480" cy="8675708"/>
          </a:xfrm>
        </p:spPr>
        <p:txBody>
          <a:bodyPr/>
          <a:lstStyle/>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Problem definition</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Scope of the Project</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Project Design</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Methodology</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Tools And Technology</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Implementation</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Challenges faced</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Result</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Conclusion</a:t>
            </a:r>
          </a:p>
          <a:p>
            <a:pPr>
              <a:lnSpc>
                <a:spcPct val="150000"/>
              </a:lnSpc>
              <a:buFont typeface="Arial" panose="020B0604020202020204" pitchFamily="34" charset="0"/>
              <a:buChar char="•"/>
            </a:pPr>
            <a:r>
              <a:rPr lang="en-US" sz="1800" b="0" dirty="0">
                <a:solidFill>
                  <a:schemeClr val="tx1"/>
                </a:solidFill>
                <a:latin typeface="Times New Roman" panose="02020603050405020304" pitchFamily="18" charset="0"/>
                <a:cs typeface="Times New Roman" panose="02020603050405020304" pitchFamily="18" charset="0"/>
              </a:rPr>
              <a:t>Future Work</a:t>
            </a:r>
          </a:p>
          <a:p>
            <a:pPr>
              <a:lnSpc>
                <a:spcPct val="150000"/>
              </a:lnSpc>
            </a:pPr>
            <a:endParaRPr lang="en-US" sz="1800" b="0" dirty="0">
              <a:solidFill>
                <a:schemeClr val="tx1"/>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sz="1800" b="0" dirty="0">
              <a:solidFill>
                <a:schemeClr val="tx1"/>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US" sz="1800" b="0" dirty="0">
              <a:solidFill>
                <a:schemeClr val="tx1"/>
              </a:solidFill>
            </a:endParaRPr>
          </a:p>
          <a:p>
            <a:pPr>
              <a:lnSpc>
                <a:spcPct val="150000"/>
              </a:lnSpc>
            </a:pPr>
            <a:endParaRPr lang="en-IN" sz="1800" b="0" dirty="0">
              <a:solidFill>
                <a:schemeClr val="tx1"/>
              </a:solidFill>
            </a:endParaRPr>
          </a:p>
          <a:p>
            <a:pPr>
              <a:lnSpc>
                <a:spcPct val="150000"/>
              </a:lnSpc>
            </a:pPr>
            <a:endParaRPr lang="en-IN" sz="1800" b="0" dirty="0">
              <a:solidFill>
                <a:schemeClr val="tx1"/>
              </a:solidFill>
            </a:endParaRPr>
          </a:p>
        </p:txBody>
      </p:sp>
    </p:spTree>
    <p:extLst>
      <p:ext uri="{BB962C8B-B14F-4D97-AF65-F5344CB8AC3E}">
        <p14:creationId xmlns:p14="http://schemas.microsoft.com/office/powerpoint/2010/main" val="133359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154895" y="3903669"/>
            <a:ext cx="989330" cy="988060"/>
          </a:xfrm>
          <a:custGeom>
            <a:avLst/>
            <a:gdLst/>
            <a:ahLst/>
            <a:cxnLst/>
            <a:rect l="l" t="t" r="r" b="b"/>
            <a:pathLst>
              <a:path w="989329" h="988060">
                <a:moveTo>
                  <a:pt x="989099" y="987899"/>
                </a:moveTo>
                <a:lnTo>
                  <a:pt x="0" y="987899"/>
                </a:lnTo>
                <a:lnTo>
                  <a:pt x="0" y="0"/>
                </a:lnTo>
                <a:lnTo>
                  <a:pt x="989099" y="987899"/>
                </a:lnTo>
                <a:close/>
              </a:path>
            </a:pathLst>
          </a:custGeom>
          <a:solidFill>
            <a:srgbClr val="F06292"/>
          </a:solidFill>
        </p:spPr>
        <p:txBody>
          <a:bodyPr wrap="square" lIns="0" tIns="0" rIns="0" bIns="0" rtlCol="0"/>
          <a:lstStyle/>
          <a:p>
            <a:endParaRPr/>
          </a:p>
        </p:txBody>
      </p:sp>
      <p:grpSp>
        <p:nvGrpSpPr>
          <p:cNvPr id="3" name="object 3"/>
          <p:cNvGrpSpPr/>
          <p:nvPr/>
        </p:nvGrpSpPr>
        <p:grpSpPr>
          <a:xfrm>
            <a:off x="0" y="3903669"/>
            <a:ext cx="9144000" cy="1240155"/>
            <a:chOff x="0" y="3903669"/>
            <a:chExt cx="9144000" cy="1240155"/>
          </a:xfrm>
        </p:grpSpPr>
        <p:sp>
          <p:nvSpPr>
            <p:cNvPr id="4" name="object 4"/>
            <p:cNvSpPr/>
            <p:nvPr/>
          </p:nvSpPr>
          <p:spPr>
            <a:xfrm>
              <a:off x="6181163" y="3903669"/>
              <a:ext cx="989330" cy="988060"/>
            </a:xfrm>
            <a:custGeom>
              <a:avLst/>
              <a:gdLst/>
              <a:ahLst/>
              <a:cxnLst/>
              <a:rect l="l" t="t" r="r" b="b"/>
              <a:pathLst>
                <a:path w="989329" h="988060">
                  <a:moveTo>
                    <a:pt x="989100" y="987899"/>
                  </a:moveTo>
                  <a:lnTo>
                    <a:pt x="0" y="987899"/>
                  </a:lnTo>
                  <a:lnTo>
                    <a:pt x="989100" y="0"/>
                  </a:lnTo>
                  <a:lnTo>
                    <a:pt x="989100" y="987899"/>
                  </a:lnTo>
                  <a:close/>
                </a:path>
              </a:pathLst>
            </a:custGeom>
            <a:solidFill>
              <a:srgbClr val="F06292"/>
            </a:solidFill>
          </p:spPr>
          <p:txBody>
            <a:bodyPr wrap="square" lIns="0" tIns="0" rIns="0" bIns="0" rtlCol="0"/>
            <a:lstStyle/>
            <a:p>
              <a:endParaRPr/>
            </a:p>
          </p:txBody>
        </p:sp>
        <p:sp>
          <p:nvSpPr>
            <p:cNvPr id="5" name="object 5"/>
            <p:cNvSpPr/>
            <p:nvPr/>
          </p:nvSpPr>
          <p:spPr>
            <a:xfrm>
              <a:off x="7170273" y="3903669"/>
              <a:ext cx="989330" cy="988060"/>
            </a:xfrm>
            <a:custGeom>
              <a:avLst/>
              <a:gdLst/>
              <a:ahLst/>
              <a:cxnLst/>
              <a:rect l="l" t="t" r="r" b="b"/>
              <a:pathLst>
                <a:path w="989329" h="988060">
                  <a:moveTo>
                    <a:pt x="989099" y="987899"/>
                  </a:moveTo>
                  <a:lnTo>
                    <a:pt x="0" y="987899"/>
                  </a:lnTo>
                  <a:lnTo>
                    <a:pt x="0" y="0"/>
                  </a:lnTo>
                  <a:lnTo>
                    <a:pt x="989099" y="0"/>
                  </a:lnTo>
                  <a:lnTo>
                    <a:pt x="989099" y="987899"/>
                  </a:lnTo>
                  <a:close/>
                </a:path>
              </a:pathLst>
            </a:custGeom>
            <a:solidFill>
              <a:srgbClr val="D13368"/>
            </a:solidFill>
          </p:spPr>
          <p:txBody>
            <a:bodyPr wrap="square" lIns="0" tIns="0" rIns="0" bIns="0" rtlCol="0"/>
            <a:lstStyle/>
            <a:p>
              <a:endParaRPr/>
            </a:p>
          </p:txBody>
        </p:sp>
        <p:sp>
          <p:nvSpPr>
            <p:cNvPr id="6" name="object 6"/>
            <p:cNvSpPr/>
            <p:nvPr/>
          </p:nvSpPr>
          <p:spPr>
            <a:xfrm>
              <a:off x="8154757" y="3903681"/>
              <a:ext cx="989330" cy="988060"/>
            </a:xfrm>
            <a:custGeom>
              <a:avLst/>
              <a:gdLst/>
              <a:ahLst/>
              <a:cxnLst/>
              <a:rect l="l" t="t" r="r" b="b"/>
              <a:pathLst>
                <a:path w="989329" h="988060">
                  <a:moveTo>
                    <a:pt x="989099" y="987899"/>
                  </a:moveTo>
                  <a:lnTo>
                    <a:pt x="0" y="0"/>
                  </a:lnTo>
                  <a:lnTo>
                    <a:pt x="989099" y="0"/>
                  </a:lnTo>
                  <a:lnTo>
                    <a:pt x="989099" y="987899"/>
                  </a:lnTo>
                  <a:close/>
                </a:path>
              </a:pathLst>
            </a:custGeom>
            <a:solidFill>
              <a:srgbClr val="9B254D"/>
            </a:solidFill>
          </p:spPr>
          <p:txBody>
            <a:bodyPr wrap="square" lIns="0" tIns="0" rIns="0" bIns="0" rtlCol="0"/>
            <a:lstStyle/>
            <a:p>
              <a:endParaRPr/>
            </a:p>
          </p:txBody>
        </p:sp>
        <p:sp>
          <p:nvSpPr>
            <p:cNvPr id="7" name="object 7"/>
            <p:cNvSpPr/>
            <p:nvPr/>
          </p:nvSpPr>
          <p:spPr>
            <a:xfrm>
              <a:off x="0" y="4891594"/>
              <a:ext cx="9144000" cy="252095"/>
            </a:xfrm>
            <a:custGeom>
              <a:avLst/>
              <a:gdLst/>
              <a:ahLst/>
              <a:cxnLst/>
              <a:rect l="l" t="t" r="r" b="b"/>
              <a:pathLst>
                <a:path w="9144000" h="252095">
                  <a:moveTo>
                    <a:pt x="9143999" y="251999"/>
                  </a:moveTo>
                  <a:lnTo>
                    <a:pt x="0" y="251999"/>
                  </a:lnTo>
                  <a:lnTo>
                    <a:pt x="0" y="0"/>
                  </a:lnTo>
                  <a:lnTo>
                    <a:pt x="9143999" y="0"/>
                  </a:lnTo>
                  <a:lnTo>
                    <a:pt x="9143999" y="251999"/>
                  </a:lnTo>
                  <a:close/>
                </a:path>
              </a:pathLst>
            </a:custGeom>
            <a:solidFill>
              <a:srgbClr val="2A3890"/>
            </a:solidFill>
          </p:spPr>
          <p:txBody>
            <a:bodyPr wrap="square" lIns="0" tIns="0" rIns="0" bIns="0" rtlCol="0"/>
            <a:lstStyle/>
            <a:p>
              <a:endParaRPr/>
            </a:p>
          </p:txBody>
        </p:sp>
      </p:grpSp>
      <p:sp>
        <p:nvSpPr>
          <p:cNvPr id="8" name="object 8"/>
          <p:cNvSpPr txBox="1">
            <a:spLocks noGrp="1"/>
          </p:cNvSpPr>
          <p:nvPr>
            <p:ph type="title"/>
          </p:nvPr>
        </p:nvSpPr>
        <p:spPr>
          <a:xfrm>
            <a:off x="2895600" y="209550"/>
            <a:ext cx="3047999" cy="428322"/>
          </a:xfrm>
          <a:prstGeom prst="rect">
            <a:avLst/>
          </a:prstGeom>
        </p:spPr>
        <p:txBody>
          <a:bodyPr vert="horz" wrap="square" lIns="0" tIns="12700" rIns="0" bIns="0" rtlCol="0">
            <a:spAutoFit/>
          </a:bodyPr>
          <a:lstStyle/>
          <a:p>
            <a:pPr marL="12700" algn="r">
              <a:lnSpc>
                <a:spcPct val="100000"/>
              </a:lnSpc>
              <a:spcBef>
                <a:spcPts val="100"/>
              </a:spcBef>
            </a:pPr>
            <a:r>
              <a:rPr lang="en-IN" u="none" spc="-10" dirty="0">
                <a:latin typeface="Times New Roman" panose="02020603050405020304" pitchFamily="18" charset="0"/>
                <a:cs typeface="Times New Roman" panose="02020603050405020304" pitchFamily="18" charset="0"/>
              </a:rPr>
              <a:t> </a:t>
            </a:r>
            <a:r>
              <a:rPr lang="en-IN" u="sng" spc="-10" dirty="0">
                <a:latin typeface="Times New Roman" panose="02020603050405020304" pitchFamily="18" charset="0"/>
                <a:cs typeface="Times New Roman" panose="02020603050405020304" pitchFamily="18" charset="0"/>
              </a:rPr>
              <a:t>Problem Statement</a:t>
            </a:r>
            <a:endParaRPr u="sng" spc="-1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321F6D0-4D1D-9648-F129-0CA6ACBE5CB1}"/>
              </a:ext>
            </a:extLst>
          </p:cNvPr>
          <p:cNvSpPr txBox="1"/>
          <p:nvPr/>
        </p:nvSpPr>
        <p:spPr>
          <a:xfrm>
            <a:off x="304800" y="971550"/>
            <a:ext cx="8763000" cy="2031325"/>
          </a:xfrm>
          <a:prstGeom prst="rect">
            <a:avLst/>
          </a:prstGeom>
          <a:noFill/>
        </p:spPr>
        <p:txBody>
          <a:bodyPr wrap="square" rtlCol="0">
            <a:spAutoFit/>
          </a:bodyPr>
          <a:lstStyle/>
          <a:p>
            <a:pPr algn="just"/>
            <a:endParaRPr lang="en-IN"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design an AI-powered online bookstore that overcomes the limitations of existing systems, which mainly focus only on search and purchase. The system will provide intelligent recommendations, interactive features, and personalized suggestions to help users easily discover books and connect with peers.</a:t>
            </a:r>
            <a:endParaRPr lang="en-IN" dirty="0">
              <a:latin typeface="Times New Roman" panose="02020603050405020304" pitchFamily="18" charset="0"/>
              <a:cs typeface="Times New Roman" panose="02020603050405020304" pitchFamily="18" charset="0"/>
            </a:endParaRPr>
          </a:p>
          <a:p>
            <a:pPr algn="just"/>
            <a:endParaRPr lang="en-IN" b="1" dirty="0">
              <a:latin typeface="Times New Roman" panose="02020603050405020304" pitchFamily="18" charset="0"/>
              <a:cs typeface="Times New Roman" panose="02020603050405020304" pitchFamily="18" charset="0"/>
            </a:endParaRPr>
          </a:p>
          <a:p>
            <a:pPr algn="just"/>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209550"/>
            <a:ext cx="4493259" cy="1674817"/>
          </a:xfrm>
          <a:prstGeom prst="rect">
            <a:avLst/>
          </a:prstGeom>
        </p:spPr>
        <p:txBody>
          <a:bodyPr vert="horz" wrap="square" lIns="0" tIns="12700" rIns="0" bIns="0" rtlCol="0">
            <a:spAutoFit/>
          </a:bodyPr>
          <a:lstStyle/>
          <a:p>
            <a:pPr marL="978535">
              <a:lnSpc>
                <a:spcPct val="100000"/>
              </a:lnSpc>
              <a:spcBef>
                <a:spcPts val="100"/>
              </a:spcBef>
            </a:pPr>
            <a:r>
              <a:rPr lang="en-IN" u="sng" spc="-10" dirty="0">
                <a:latin typeface="Times New Roman" panose="02020603050405020304" pitchFamily="18" charset="0"/>
                <a:cs typeface="Times New Roman" panose="02020603050405020304" pitchFamily="18" charset="0"/>
              </a:rPr>
              <a:t>Scope of the Project</a:t>
            </a:r>
            <a:br>
              <a:rPr lang="en-IN" u="none" spc="-10" dirty="0">
                <a:latin typeface="Times New Roman" panose="02020603050405020304" pitchFamily="18" charset="0"/>
                <a:cs typeface="Times New Roman" panose="02020603050405020304" pitchFamily="18" charset="0"/>
              </a:rPr>
            </a:br>
            <a:r>
              <a:rPr lang="en-IN" u="none" spc="-10" dirty="0">
                <a:latin typeface="Times New Roman" panose="02020603050405020304" pitchFamily="18" charset="0"/>
                <a:cs typeface="Times New Roman" panose="02020603050405020304" pitchFamily="18" charset="0"/>
              </a:rPr>
              <a:t> </a:t>
            </a:r>
            <a:br>
              <a:rPr lang="en-IN" u="none" spc="-10" dirty="0">
                <a:latin typeface="Times New Roman" panose="02020603050405020304" pitchFamily="18" charset="0"/>
                <a:cs typeface="Times New Roman" panose="02020603050405020304" pitchFamily="18" charset="0"/>
              </a:rPr>
            </a:br>
            <a:br>
              <a:rPr lang="en-IN" u="none" spc="-10" dirty="0">
                <a:latin typeface="Times New Roman" panose="02020603050405020304" pitchFamily="18" charset="0"/>
                <a:cs typeface="Times New Roman" panose="02020603050405020304" pitchFamily="18" charset="0"/>
              </a:rPr>
            </a:br>
            <a:endParaRPr b="0" u="none" spc="-1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94DCE12-1399-043C-1F9F-C747570CA3C3}"/>
              </a:ext>
            </a:extLst>
          </p:cNvPr>
          <p:cNvSpPr txBox="1"/>
          <p:nvPr/>
        </p:nvSpPr>
        <p:spPr>
          <a:xfrm>
            <a:off x="304800" y="742950"/>
            <a:ext cx="8458200" cy="590931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Focus Area:</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 Driven Book Discovery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 Search Integration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Personalized Recommendations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Smart User assistance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Efficient Inventory and Admin Management</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Key Benefits: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Faster and Smarter Book Discovery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User Engagement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 Saving for Admin and User</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Accuracy in Search Results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Decision Making Through Analytics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55BD0FA-2228-39E8-78BA-04E60992630F}"/>
              </a:ext>
            </a:extLst>
          </p:cNvPr>
          <p:cNvPicPr>
            <a:picLocks noChangeAspect="1"/>
          </p:cNvPicPr>
          <p:nvPr/>
        </p:nvPicPr>
        <p:blipFill>
          <a:blip r:embed="rId2"/>
          <a:stretch>
            <a:fillRect/>
          </a:stretch>
        </p:blipFill>
        <p:spPr>
          <a:xfrm>
            <a:off x="5334000" y="895350"/>
            <a:ext cx="3581400" cy="2895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3794" y="127230"/>
            <a:ext cx="3056412" cy="428322"/>
          </a:xfrm>
          <a:prstGeom prst="rect">
            <a:avLst/>
          </a:prstGeom>
        </p:spPr>
        <p:txBody>
          <a:bodyPr vert="horz" wrap="square" lIns="0" tIns="12700" rIns="0" bIns="0" rtlCol="0">
            <a:spAutoFit/>
          </a:bodyPr>
          <a:lstStyle/>
          <a:p>
            <a:pPr marL="12700" algn="just">
              <a:lnSpc>
                <a:spcPct val="100000"/>
              </a:lnSpc>
              <a:spcBef>
                <a:spcPts val="100"/>
              </a:spcBef>
            </a:pPr>
            <a:r>
              <a:rPr lang="en-IN" u="none" spc="-10" dirty="0">
                <a:latin typeface="Times New Roman" panose="02020603050405020304" pitchFamily="18" charset="0"/>
                <a:cs typeface="Times New Roman" panose="02020603050405020304" pitchFamily="18" charset="0"/>
              </a:rPr>
              <a:t> </a:t>
            </a:r>
            <a:r>
              <a:rPr lang="en-IN" u="sng" spc="-10" dirty="0">
                <a:latin typeface="Times New Roman" panose="02020603050405020304" pitchFamily="18" charset="0"/>
                <a:cs typeface="Times New Roman" panose="02020603050405020304" pitchFamily="18" charset="0"/>
              </a:rPr>
              <a:t>Project Design</a:t>
            </a:r>
            <a:endParaRPr lang="en-IN" b="0" u="sng" spc="-1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3CCABCB-350E-B7DD-D05E-3FCE0730733C}"/>
              </a:ext>
            </a:extLst>
          </p:cNvPr>
          <p:cNvSpPr>
            <a:spLocks noChangeArrowheads="1"/>
          </p:cNvSpPr>
          <p:nvPr/>
        </p:nvSpPr>
        <p:spPr bwMode="auto">
          <a:xfrm>
            <a:off x="152400" y="577533"/>
            <a:ext cx="6849952"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Frontend: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Web interface for browsing and managing books.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Backend: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data processing, authentication, and business logic.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books, orders and users details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Book Management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Category &amp; Author Management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Order &amp; Inventory Management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User/Customer Module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Admin Dashboard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0" y="0"/>
            <a:ext cx="3733800" cy="507831"/>
          </a:xfrm>
          <a:prstGeom prst="rect">
            <a:avLst/>
          </a:prstGeom>
        </p:spPr>
        <p:txBody>
          <a:bodyPr wrap="square">
            <a:spAutoFit/>
          </a:bodyPr>
          <a:lstStyle/>
          <a:p>
            <a:pPr algn="just"/>
            <a:r>
              <a:rPr lang="en-US" sz="2700" b="1" u="sng" spc="-10" dirty="0">
                <a:solidFill>
                  <a:schemeClr val="tx2"/>
                </a:solidFill>
                <a:latin typeface="Times New Roman" panose="02020603050405020304" pitchFamily="18" charset="0"/>
                <a:cs typeface="Times New Roman" panose="02020603050405020304" pitchFamily="18" charset="0"/>
              </a:rPr>
              <a:t> Methodology</a:t>
            </a:r>
            <a:endParaRPr lang="en-US" sz="2700" b="1" u="sng" dirty="0">
              <a:solidFill>
                <a:schemeClr val="tx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7FC1C69-3819-469E-7F94-91B8ABD1B478}"/>
              </a:ext>
            </a:extLst>
          </p:cNvPr>
          <p:cNvSpPr txBox="1"/>
          <p:nvPr/>
        </p:nvSpPr>
        <p:spPr>
          <a:xfrm>
            <a:off x="-22860" y="2800350"/>
            <a:ext cx="8915400" cy="646331"/>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D683CB9-CEE8-39CB-BEDB-6D02636E5EC9}"/>
              </a:ext>
            </a:extLst>
          </p:cNvPr>
          <p:cNvPicPr>
            <a:picLocks noChangeAspect="1"/>
          </p:cNvPicPr>
          <p:nvPr/>
        </p:nvPicPr>
        <p:blipFill>
          <a:blip r:embed="rId2"/>
          <a:stretch>
            <a:fillRect/>
          </a:stretch>
        </p:blipFill>
        <p:spPr>
          <a:xfrm>
            <a:off x="251459" y="742950"/>
            <a:ext cx="8892541"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8963181-1F06-4AC8-6013-6C7828A176E7}"/>
              </a:ext>
            </a:extLst>
          </p:cNvPr>
          <p:cNvSpPr txBox="1"/>
          <p:nvPr/>
        </p:nvSpPr>
        <p:spPr>
          <a:xfrm>
            <a:off x="304800" y="209550"/>
            <a:ext cx="8534400" cy="507831"/>
          </a:xfrm>
          <a:prstGeom prst="rect">
            <a:avLst/>
          </a:prstGeom>
          <a:noFill/>
        </p:spPr>
        <p:txBody>
          <a:bodyPr wrap="square" rtlCol="0">
            <a:spAutoFit/>
          </a:bodyPr>
          <a:lstStyle/>
          <a:p>
            <a:r>
              <a:rPr lang="en-US" sz="1800" b="1" spc="-10" dirty="0">
                <a:solidFill>
                  <a:schemeClr val="tx2"/>
                </a:solidFill>
                <a:latin typeface="Times New Roman" panose="02020603050405020304" pitchFamily="18" charset="0"/>
                <a:cs typeface="Times New Roman" panose="02020603050405020304" pitchFamily="18" charset="0"/>
              </a:rPr>
              <a:t> </a:t>
            </a:r>
            <a:r>
              <a:rPr lang="en-US" sz="2700" b="1" spc="-10" dirty="0">
                <a:solidFill>
                  <a:schemeClr val="tx2"/>
                </a:solidFill>
                <a:latin typeface="Times New Roman" panose="02020603050405020304" pitchFamily="18" charset="0"/>
                <a:cs typeface="Times New Roman" panose="02020603050405020304" pitchFamily="18" charset="0"/>
              </a:rPr>
              <a:t>                          </a:t>
            </a:r>
            <a:r>
              <a:rPr lang="en-US" sz="2700" b="1" u="sng" spc="-10" dirty="0">
                <a:solidFill>
                  <a:schemeClr val="tx2"/>
                </a:solidFill>
                <a:latin typeface="Times New Roman" panose="02020603050405020304" pitchFamily="18" charset="0"/>
                <a:cs typeface="Times New Roman" panose="02020603050405020304" pitchFamily="18" charset="0"/>
              </a:rPr>
              <a:t>Tools and Technologies</a:t>
            </a:r>
            <a:endParaRPr lang="en-IN" sz="2700" b="1" u="sn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682E315-C285-4FEF-52AC-C9668FDD0C53}"/>
              </a:ext>
            </a:extLst>
          </p:cNvPr>
          <p:cNvSpPr txBox="1"/>
          <p:nvPr/>
        </p:nvSpPr>
        <p:spPr>
          <a:xfrm>
            <a:off x="457200" y="1276350"/>
            <a:ext cx="5943600"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Framework : </a:t>
            </a:r>
            <a:r>
              <a:rPr lang="en-US" dirty="0">
                <a:latin typeface="Times New Roman" panose="02020603050405020304" pitchFamily="18" charset="0"/>
                <a:cs typeface="Times New Roman" panose="02020603050405020304" pitchFamily="18" charset="0"/>
              </a:rPr>
              <a:t>Django(Python)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 : HTML, CSS, JavaScript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Django MVC Architecture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 SQLite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AI&amp;ML </a:t>
            </a:r>
            <a:r>
              <a:rPr lang="en-US" dirty="0">
                <a:latin typeface="Times New Roman" panose="02020603050405020304" pitchFamily="18" charset="0"/>
                <a:cs typeface="Times New Roman" panose="02020603050405020304" pitchFamily="18" charset="0"/>
              </a:rPr>
              <a:t>: TensorFlow.js</a:t>
            </a: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088778D1-B63A-AEFA-A7BC-65C382613A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123950"/>
            <a:ext cx="2495550"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93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588" y="127230"/>
            <a:ext cx="7160259" cy="559016"/>
          </a:xfrm>
          <a:prstGeom prst="rect">
            <a:avLst/>
          </a:prstGeom>
        </p:spPr>
        <p:txBody>
          <a:bodyPr vert="horz" wrap="square" lIns="0" tIns="142130" rIns="0" bIns="0" rtlCol="0">
            <a:spAutoFit/>
          </a:bodyPr>
          <a:lstStyle/>
          <a:p>
            <a:pPr marL="1979930" algn="just">
              <a:lnSpc>
                <a:spcPct val="100000"/>
              </a:lnSpc>
              <a:spcBef>
                <a:spcPts val="100"/>
              </a:spcBef>
            </a:pPr>
            <a:r>
              <a:rPr lang="en-IN" u="none" spc="-10" dirty="0">
                <a:latin typeface="Times New Roman" panose="02020603050405020304" pitchFamily="18" charset="0"/>
                <a:cs typeface="Times New Roman" panose="02020603050405020304" pitchFamily="18" charset="0"/>
              </a:rPr>
              <a:t>    </a:t>
            </a:r>
            <a:r>
              <a:rPr lang="en-IN" u="sng" spc="-10" dirty="0">
                <a:latin typeface="Times New Roman" panose="02020603050405020304" pitchFamily="18" charset="0"/>
                <a:cs typeface="Times New Roman" panose="02020603050405020304" pitchFamily="18" charset="0"/>
              </a:rPr>
              <a:t>Implementation</a:t>
            </a:r>
            <a:endParaRPr u="sng" spc="-1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D3C11D2-80CF-03D6-DF7F-CD3ABB4245B0}"/>
              </a:ext>
            </a:extLst>
          </p:cNvPr>
          <p:cNvPicPr>
            <a:picLocks noChangeAspect="1"/>
          </p:cNvPicPr>
          <p:nvPr/>
        </p:nvPicPr>
        <p:blipFill>
          <a:blip r:embed="rId2"/>
          <a:stretch>
            <a:fillRect/>
          </a:stretch>
        </p:blipFill>
        <p:spPr>
          <a:xfrm>
            <a:off x="76200" y="819150"/>
            <a:ext cx="8991600" cy="396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588" y="127230"/>
            <a:ext cx="7160259" cy="428322"/>
          </a:xfrm>
          <a:prstGeom prst="rect">
            <a:avLst/>
          </a:prstGeom>
        </p:spPr>
        <p:txBody>
          <a:bodyPr vert="horz" wrap="square" lIns="0" tIns="12700" rIns="0" bIns="0" rtlCol="0">
            <a:spAutoFit/>
          </a:bodyPr>
          <a:lstStyle/>
          <a:p>
            <a:pPr marL="1635760">
              <a:lnSpc>
                <a:spcPct val="100000"/>
              </a:lnSpc>
              <a:spcBef>
                <a:spcPts val="100"/>
              </a:spcBef>
            </a:pPr>
            <a:r>
              <a:rPr lang="en-IN" u="none" spc="-10" dirty="0">
                <a:latin typeface="Times New Roman" panose="02020603050405020304" pitchFamily="18" charset="0"/>
                <a:cs typeface="Times New Roman" panose="02020603050405020304" pitchFamily="18" charset="0"/>
              </a:rPr>
              <a:t>     </a:t>
            </a:r>
            <a:r>
              <a:rPr lang="en-IN" u="sng" spc="-10" dirty="0">
                <a:latin typeface="Times New Roman" panose="02020603050405020304" pitchFamily="18" charset="0"/>
                <a:cs typeface="Times New Roman" panose="02020603050405020304" pitchFamily="18" charset="0"/>
              </a:rPr>
              <a:t>Challenges Faced</a:t>
            </a:r>
            <a:endParaRPr u="sng" spc="-10" dirty="0">
              <a:latin typeface="Times New Roman" panose="02020603050405020304" pitchFamily="18" charset="0"/>
              <a:cs typeface="Times New Roman" panose="02020603050405020304" pitchFamily="18" charset="0"/>
            </a:endParaRPr>
          </a:p>
        </p:txBody>
      </p:sp>
      <p:sp>
        <p:nvSpPr>
          <p:cNvPr id="8194" name="AutoShape 2"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196" name="AutoShape 4"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0B631C0-07EA-1588-BCE0-D8CCEB0ADBCB}"/>
              </a:ext>
            </a:extLst>
          </p:cNvPr>
          <p:cNvSpPr txBox="1"/>
          <p:nvPr/>
        </p:nvSpPr>
        <p:spPr>
          <a:xfrm>
            <a:off x="228600" y="844094"/>
            <a:ext cx="9067800"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Integrating multiple AI modalities (recommendation, visual search, chatbot) into a cohesive platform.</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Ensuring real-time performance and scalability for AI-driven features.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Designing a user-friendly interface that gracefully handles complex functionalities.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Moderating community content automatically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583639-EC05-47F5-EFDA-834367456AF2}"/>
              </a:ext>
            </a:extLst>
          </p:cNvPr>
          <p:cNvSpPr>
            <a:spLocks noGrp="1"/>
          </p:cNvSpPr>
          <p:nvPr>
            <p:ph type="title"/>
          </p:nvPr>
        </p:nvSpPr>
        <p:spPr>
          <a:xfrm>
            <a:off x="609600" y="209550"/>
            <a:ext cx="7160259" cy="415498"/>
          </a:xfrm>
        </p:spPr>
        <p:txBody>
          <a:bodyPr/>
          <a:lstStyle/>
          <a:p>
            <a:pPr algn="ctr"/>
            <a:r>
              <a:rPr lang="en-IN" u="sng" dirty="0">
                <a:latin typeface="Times New Roman" panose="02020603050405020304" pitchFamily="18" charset="0"/>
                <a:cs typeface="Times New Roman" panose="02020603050405020304" pitchFamily="18" charset="0"/>
              </a:rPr>
              <a:t>Result</a:t>
            </a:r>
          </a:p>
        </p:txBody>
      </p:sp>
      <p:pic>
        <p:nvPicPr>
          <p:cNvPr id="4" name="Picture 3" descr="A screenshot of a computer&#10;&#10;AI-generated content may be incorrect.">
            <a:extLst>
              <a:ext uri="{FF2B5EF4-FFF2-40B4-BE49-F238E27FC236}">
                <a16:creationId xmlns:a16="http://schemas.microsoft.com/office/drawing/2014/main" id="{5DDBACB8-3FAD-270F-D2CC-F1EFA9246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5048"/>
            <a:ext cx="9144000" cy="39279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74A7E8-8492-B022-15F2-41F23036FDEE}"/>
              </a:ext>
            </a:extLst>
          </p:cNvPr>
          <p:cNvSpPr txBox="1"/>
          <p:nvPr/>
        </p:nvSpPr>
        <p:spPr>
          <a:xfrm>
            <a:off x="3810000" y="209550"/>
            <a:ext cx="1447800" cy="523220"/>
          </a:xfrm>
          <a:prstGeom prst="rect">
            <a:avLst/>
          </a:prstGeom>
          <a:noFill/>
        </p:spPr>
        <p:txBody>
          <a:bodyPr wrap="square">
            <a:spAutoFit/>
          </a:bodyPr>
          <a:lstStyle/>
          <a:p>
            <a:r>
              <a:rPr lang="en-IN" sz="2800" u="sng" dirty="0">
                <a:solidFill>
                  <a:schemeClr val="tx2"/>
                </a:solidFill>
                <a:latin typeface="Times New Roman" panose="02020603050405020304" pitchFamily="18" charset="0"/>
                <a:cs typeface="Times New Roman" panose="02020603050405020304" pitchFamily="18" charset="0"/>
              </a:rPr>
              <a:t> </a:t>
            </a:r>
            <a:r>
              <a:rPr lang="en-IN" sz="2800" b="1" u="sng" dirty="0">
                <a:solidFill>
                  <a:schemeClr val="tx2"/>
                </a:solidFill>
                <a:latin typeface="Times New Roman" panose="02020603050405020304" pitchFamily="18" charset="0"/>
                <a:cs typeface="Times New Roman" panose="02020603050405020304" pitchFamily="18" charset="0"/>
              </a:rPr>
              <a:t>Result</a:t>
            </a:r>
            <a:r>
              <a:rPr lang="en-IN" sz="2800" u="sng" dirty="0">
                <a:solidFill>
                  <a:schemeClr val="tx2"/>
                </a:solidFill>
                <a:latin typeface="Times New Roman" panose="02020603050405020304" pitchFamily="18" charset="0"/>
                <a:cs typeface="Times New Roman" panose="02020603050405020304" pitchFamily="18" charset="0"/>
              </a:rPr>
              <a:t>  </a:t>
            </a:r>
            <a:endParaRPr lang="en-IN" sz="2800" dirty="0">
              <a:solidFill>
                <a:schemeClr val="tx2"/>
              </a:solidFill>
            </a:endParaRPr>
          </a:p>
        </p:txBody>
      </p:sp>
      <p:pic>
        <p:nvPicPr>
          <p:cNvPr id="5" name="Picture 4" descr="A screenshot of a computer&#10;&#10;AI-generated content may be incorrect.">
            <a:extLst>
              <a:ext uri="{FF2B5EF4-FFF2-40B4-BE49-F238E27FC236}">
                <a16:creationId xmlns:a16="http://schemas.microsoft.com/office/drawing/2014/main" id="{8DB031AB-6C40-3763-916C-CAD162A87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819150"/>
            <a:ext cx="7848600" cy="3935730"/>
          </a:xfrm>
          <a:prstGeom prst="rect">
            <a:avLst/>
          </a:prstGeom>
        </p:spPr>
      </p:pic>
    </p:spTree>
    <p:extLst>
      <p:ext uri="{BB962C8B-B14F-4D97-AF65-F5344CB8AC3E}">
        <p14:creationId xmlns:p14="http://schemas.microsoft.com/office/powerpoint/2010/main" val="193398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FA5CC-59CB-773D-8D50-A1F985D8EBFD}"/>
              </a:ext>
            </a:extLst>
          </p:cNvPr>
          <p:cNvSpPr>
            <a:spLocks noGrp="1"/>
          </p:cNvSpPr>
          <p:nvPr>
            <p:ph type="title"/>
          </p:nvPr>
        </p:nvSpPr>
        <p:spPr>
          <a:xfrm>
            <a:off x="3429000" y="127230"/>
            <a:ext cx="4484847" cy="415498"/>
          </a:xfrm>
        </p:spPr>
        <p:txBody>
          <a:bodyPr/>
          <a:lstStyle/>
          <a:p>
            <a:r>
              <a:rPr lang="en-IN" dirty="0"/>
              <a:t>Result</a:t>
            </a:r>
          </a:p>
        </p:txBody>
      </p:sp>
      <p:pic>
        <p:nvPicPr>
          <p:cNvPr id="4" name="Picture 3" descr="A screenshot of a computer&#10;&#10;AI-generated content may be incorrect.">
            <a:extLst>
              <a:ext uri="{FF2B5EF4-FFF2-40B4-BE49-F238E27FC236}">
                <a16:creationId xmlns:a16="http://schemas.microsoft.com/office/drawing/2014/main" id="{A24C9663-556B-74DB-6308-ECB10FAD60D5}"/>
              </a:ext>
            </a:extLst>
          </p:cNvPr>
          <p:cNvPicPr>
            <a:picLocks noChangeAspect="1"/>
          </p:cNvPicPr>
          <p:nvPr/>
        </p:nvPicPr>
        <p:blipFill>
          <a:blip r:embed="rId2">
            <a:extLst>
              <a:ext uri="{28A0092B-C50C-407E-A947-70E740481C1C}">
                <a14:useLocalDpi xmlns:a14="http://schemas.microsoft.com/office/drawing/2010/main" val="0"/>
              </a:ext>
            </a:extLst>
          </a:blip>
          <a:srcRect l="65000"/>
          <a:stretch>
            <a:fillRect/>
          </a:stretch>
        </p:blipFill>
        <p:spPr>
          <a:xfrm>
            <a:off x="2438400" y="592860"/>
            <a:ext cx="3886200" cy="4036290"/>
          </a:xfrm>
          <a:prstGeom prst="rect">
            <a:avLst/>
          </a:prstGeom>
        </p:spPr>
      </p:pic>
    </p:spTree>
    <p:extLst>
      <p:ext uri="{BB962C8B-B14F-4D97-AF65-F5344CB8AC3E}">
        <p14:creationId xmlns:p14="http://schemas.microsoft.com/office/powerpoint/2010/main" val="282610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FD11-AAE3-F9DF-74A5-40A6F305476A}"/>
              </a:ext>
            </a:extLst>
          </p:cNvPr>
          <p:cNvSpPr>
            <a:spLocks noGrp="1"/>
          </p:cNvSpPr>
          <p:nvPr>
            <p:ph type="title"/>
          </p:nvPr>
        </p:nvSpPr>
        <p:spPr>
          <a:xfrm>
            <a:off x="3657600" y="127230"/>
            <a:ext cx="4256247" cy="415498"/>
          </a:xfrm>
        </p:spPr>
        <p:txBody>
          <a:bodyPr/>
          <a:lstStyle/>
          <a:p>
            <a:r>
              <a:rPr lang="en-IN" dirty="0"/>
              <a:t>Result</a:t>
            </a:r>
          </a:p>
        </p:txBody>
      </p:sp>
      <p:pic>
        <p:nvPicPr>
          <p:cNvPr id="4" name="Picture 3" descr="A screenshot of a book&#10;&#10;AI-generated content may be incorrect.">
            <a:extLst>
              <a:ext uri="{FF2B5EF4-FFF2-40B4-BE49-F238E27FC236}">
                <a16:creationId xmlns:a16="http://schemas.microsoft.com/office/drawing/2014/main" id="{BAC303AF-8258-008E-1659-973310E80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4352"/>
            <a:ext cx="9144000" cy="4074795"/>
          </a:xfrm>
          <a:prstGeom prst="rect">
            <a:avLst/>
          </a:prstGeom>
        </p:spPr>
      </p:pic>
    </p:spTree>
    <p:extLst>
      <p:ext uri="{BB962C8B-B14F-4D97-AF65-F5344CB8AC3E}">
        <p14:creationId xmlns:p14="http://schemas.microsoft.com/office/powerpoint/2010/main" val="3276944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0AD8-83CC-C94C-A419-E1ED48B0FE11}"/>
              </a:ext>
            </a:extLst>
          </p:cNvPr>
          <p:cNvSpPr>
            <a:spLocks noGrp="1"/>
          </p:cNvSpPr>
          <p:nvPr>
            <p:ph type="title"/>
          </p:nvPr>
        </p:nvSpPr>
        <p:spPr>
          <a:xfrm>
            <a:off x="3505200" y="127230"/>
            <a:ext cx="4408647" cy="415498"/>
          </a:xfrm>
        </p:spPr>
        <p:txBody>
          <a:bodyPr/>
          <a:lstStyle/>
          <a:p>
            <a:r>
              <a:rPr lang="en-IN" dirty="0"/>
              <a:t>Result</a:t>
            </a:r>
          </a:p>
        </p:txBody>
      </p:sp>
      <p:pic>
        <p:nvPicPr>
          <p:cNvPr id="4" name="Picture 3" descr="A screenshot of a computer&#10;&#10;AI-generated content may be incorrect.">
            <a:extLst>
              <a:ext uri="{FF2B5EF4-FFF2-40B4-BE49-F238E27FC236}">
                <a16:creationId xmlns:a16="http://schemas.microsoft.com/office/drawing/2014/main" id="{C213DAD2-E634-3239-EE6C-C75DC6D6FC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666749"/>
            <a:ext cx="8305800" cy="4059555"/>
          </a:xfrm>
          <a:prstGeom prst="rect">
            <a:avLst/>
          </a:prstGeom>
        </p:spPr>
      </p:pic>
    </p:spTree>
    <p:extLst>
      <p:ext uri="{BB962C8B-B14F-4D97-AF65-F5344CB8AC3E}">
        <p14:creationId xmlns:p14="http://schemas.microsoft.com/office/powerpoint/2010/main" val="960305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D5791-D87A-1985-EEE4-926C8D442EB8}"/>
              </a:ext>
            </a:extLst>
          </p:cNvPr>
          <p:cNvSpPr>
            <a:spLocks noGrp="1"/>
          </p:cNvSpPr>
          <p:nvPr>
            <p:ph type="title"/>
          </p:nvPr>
        </p:nvSpPr>
        <p:spPr>
          <a:xfrm>
            <a:off x="753588" y="127230"/>
            <a:ext cx="7160259" cy="415498"/>
          </a:xfrm>
        </p:spPr>
        <p:txBody>
          <a:bodyPr/>
          <a:lstStyle/>
          <a:p>
            <a:pPr algn="ctr"/>
            <a:r>
              <a:rPr lang="en-IN" u="sng"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76C5CCB6-2237-B64B-BE5D-65336EF13297}"/>
              </a:ext>
            </a:extLst>
          </p:cNvPr>
          <p:cNvSpPr txBox="1"/>
          <p:nvPr/>
        </p:nvSpPr>
        <p:spPr>
          <a:xfrm>
            <a:off x="0" y="971550"/>
            <a:ext cx="8763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BiblioTrack</a:t>
            </a:r>
            <a:r>
              <a:rPr lang="en-US" dirty="0">
                <a:latin typeface="Times New Roman" panose="02020603050405020304" pitchFamily="18" charset="0"/>
                <a:cs typeface="Times New Roman" panose="02020603050405020304" pitchFamily="18" charset="0"/>
              </a:rPr>
              <a:t> effectively supports users in discovering, tracking, and engaging with books.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AI-powered chatbot assistance adds significant value through personalized support.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Visual search and community book club for social engagement..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combines e-commerce, community, and AI technologies to offer a comprehensive book platform.</a:t>
            </a:r>
          </a:p>
        </p:txBody>
      </p:sp>
    </p:spTree>
    <p:extLst>
      <p:ext uri="{BB962C8B-B14F-4D97-AF65-F5344CB8AC3E}">
        <p14:creationId xmlns:p14="http://schemas.microsoft.com/office/powerpoint/2010/main" val="936458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8BAF-1C05-B0AA-57A5-5550555AC52A}"/>
              </a:ext>
            </a:extLst>
          </p:cNvPr>
          <p:cNvSpPr>
            <a:spLocks noGrp="1"/>
          </p:cNvSpPr>
          <p:nvPr>
            <p:ph type="ctrTitle"/>
          </p:nvPr>
        </p:nvSpPr>
        <p:spPr>
          <a:xfrm>
            <a:off x="685800" y="209551"/>
            <a:ext cx="7772400" cy="415498"/>
          </a:xfrm>
        </p:spPr>
        <p:txBody>
          <a:bodyPr/>
          <a:lstStyle/>
          <a:p>
            <a:pPr algn="ctr"/>
            <a:r>
              <a:rPr lang="en-IN" u="sng" dirty="0">
                <a:latin typeface="Times New Roman" panose="02020603050405020304" pitchFamily="18" charset="0"/>
                <a:cs typeface="Times New Roman" panose="02020603050405020304" pitchFamily="18" charset="0"/>
              </a:rPr>
              <a:t>Future Work</a:t>
            </a:r>
          </a:p>
        </p:txBody>
      </p:sp>
      <p:pic>
        <p:nvPicPr>
          <p:cNvPr id="5" name="Picture 4">
            <a:extLst>
              <a:ext uri="{FF2B5EF4-FFF2-40B4-BE49-F238E27FC236}">
                <a16:creationId xmlns:a16="http://schemas.microsoft.com/office/drawing/2014/main" id="{0B875EA2-E160-90BD-0AB7-E76086D773D9}"/>
              </a:ext>
            </a:extLst>
          </p:cNvPr>
          <p:cNvPicPr>
            <a:picLocks noChangeAspect="1"/>
          </p:cNvPicPr>
          <p:nvPr/>
        </p:nvPicPr>
        <p:blipFill>
          <a:blip r:embed="rId2"/>
          <a:stretch>
            <a:fillRect/>
          </a:stretch>
        </p:blipFill>
        <p:spPr>
          <a:xfrm>
            <a:off x="152400" y="895349"/>
            <a:ext cx="8991600" cy="3733801"/>
          </a:xfrm>
          <a:prstGeom prst="rect">
            <a:avLst/>
          </a:prstGeom>
        </p:spPr>
      </p:pic>
    </p:spTree>
    <p:extLst>
      <p:ext uri="{BB962C8B-B14F-4D97-AF65-F5344CB8AC3E}">
        <p14:creationId xmlns:p14="http://schemas.microsoft.com/office/powerpoint/2010/main" val="2067982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3DE2D-1AE8-141A-CE4C-703F8B9EB82B}"/>
              </a:ext>
            </a:extLst>
          </p:cNvPr>
          <p:cNvSpPr>
            <a:spLocks noGrp="1"/>
          </p:cNvSpPr>
          <p:nvPr>
            <p:ph type="ctrTitle"/>
          </p:nvPr>
        </p:nvSpPr>
        <p:spPr>
          <a:xfrm>
            <a:off x="685800" y="209551"/>
            <a:ext cx="7772400" cy="415498"/>
          </a:xfrm>
        </p:spPr>
        <p:txBody>
          <a:bodyPr/>
          <a:lstStyle/>
          <a:p>
            <a:pPr algn="ctr"/>
            <a:r>
              <a:rPr lang="en-IN" u="none" dirty="0">
                <a:latin typeface="Times New Roman" panose="02020603050405020304" pitchFamily="18" charset="0"/>
                <a:cs typeface="Times New Roman" panose="02020603050405020304" pitchFamily="18" charset="0"/>
              </a:rPr>
              <a:t>GitHub Link</a:t>
            </a:r>
          </a:p>
        </p:txBody>
      </p:sp>
      <p:sp>
        <p:nvSpPr>
          <p:cNvPr id="3" name="Subtitle 2">
            <a:extLst>
              <a:ext uri="{FF2B5EF4-FFF2-40B4-BE49-F238E27FC236}">
                <a16:creationId xmlns:a16="http://schemas.microsoft.com/office/drawing/2014/main" id="{1C54F034-D5C7-3093-FB73-680E330FB648}"/>
              </a:ext>
            </a:extLst>
          </p:cNvPr>
          <p:cNvSpPr>
            <a:spLocks noGrp="1"/>
          </p:cNvSpPr>
          <p:nvPr>
            <p:ph type="subTitle" idx="4"/>
          </p:nvPr>
        </p:nvSpPr>
        <p:spPr>
          <a:xfrm>
            <a:off x="152400" y="625049"/>
            <a:ext cx="7620000" cy="1146468"/>
          </a:xfrm>
        </p:spPr>
        <p:txBody>
          <a:bodyPr/>
          <a:lstStyle/>
          <a:p>
            <a:pPr marL="12700" marR="5080">
              <a:lnSpc>
                <a:spcPct val="100000"/>
              </a:lnSpc>
              <a:spcBef>
                <a:spcPts val="100"/>
              </a:spcBef>
            </a:pPr>
            <a:r>
              <a:rPr lang="en-IN" sz="1800" dirty="0">
                <a:solidFill>
                  <a:schemeClr val="tx1"/>
                </a:solidFill>
                <a:latin typeface="Times New Roman" panose="02020603050405020304" pitchFamily="18" charset="0"/>
                <a:cs typeface="Times New Roman" panose="02020603050405020304" pitchFamily="18" charset="0"/>
              </a:rPr>
              <a:t>Harshitha S : https://github.com/harshithasathish</a:t>
            </a:r>
          </a:p>
          <a:p>
            <a:pPr marL="12700" marR="5080">
              <a:lnSpc>
                <a:spcPct val="100000"/>
              </a:lnSpc>
              <a:spcBef>
                <a:spcPts val="100"/>
              </a:spcBef>
            </a:pPr>
            <a:r>
              <a:rPr lang="en-IN" sz="1800" dirty="0">
                <a:solidFill>
                  <a:schemeClr val="tx1"/>
                </a:solidFill>
                <a:latin typeface="Times New Roman" panose="02020603050405020304" pitchFamily="18" charset="0"/>
                <a:cs typeface="Times New Roman" panose="02020603050405020304" pitchFamily="18" charset="0"/>
              </a:rPr>
              <a:t>Prajna K S : https://github.com/prajnaks22</a:t>
            </a:r>
          </a:p>
          <a:p>
            <a:pPr marL="12700" marR="5080">
              <a:lnSpc>
                <a:spcPct val="100000"/>
              </a:lnSpc>
              <a:spcBef>
                <a:spcPts val="100"/>
              </a:spcBef>
            </a:pPr>
            <a:r>
              <a:rPr lang="en-IN" sz="1800" dirty="0">
                <a:solidFill>
                  <a:schemeClr val="tx1"/>
                </a:solidFill>
                <a:latin typeface="Times New Roman" panose="02020603050405020304" pitchFamily="18" charset="0"/>
                <a:cs typeface="Times New Roman" panose="02020603050405020304" pitchFamily="18" charset="0"/>
              </a:rPr>
              <a:t>Ramya Manjunath Gouda: https://github.com/Ramyagouda</a:t>
            </a:r>
          </a:p>
          <a:p>
            <a:pPr marL="12700" marR="5080">
              <a:lnSpc>
                <a:spcPct val="100000"/>
              </a:lnSpc>
              <a:spcBef>
                <a:spcPts val="100"/>
              </a:spcBef>
            </a:pPr>
            <a:r>
              <a:rPr lang="en-IN" sz="1800" dirty="0">
                <a:solidFill>
                  <a:schemeClr val="tx1"/>
                </a:solidFill>
                <a:latin typeface="Times New Roman" panose="02020603050405020304" pitchFamily="18" charset="0"/>
                <a:cs typeface="Times New Roman" panose="02020603050405020304" pitchFamily="18" charset="0"/>
              </a:rPr>
              <a:t>Shalini M B : https://github.com/SHALINIMB18</a:t>
            </a:r>
            <a:endParaRPr lang="en-IN" sz="1800" dirty="0">
              <a:solidFill>
                <a:schemeClr val="tx1"/>
              </a:solidFill>
            </a:endParaRPr>
          </a:p>
        </p:txBody>
      </p:sp>
    </p:spTree>
    <p:extLst>
      <p:ext uri="{BB962C8B-B14F-4D97-AF65-F5344CB8AC3E}">
        <p14:creationId xmlns:p14="http://schemas.microsoft.com/office/powerpoint/2010/main" val="2635626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0" y="1809750"/>
            <a:ext cx="2294412" cy="415498"/>
          </a:xfrm>
        </p:spPr>
        <p:txBody>
          <a:bodyPr/>
          <a:lstStyle/>
          <a:p>
            <a:r>
              <a:rPr lang="en-US" u="none" dirty="0"/>
              <a:t>   </a:t>
            </a:r>
            <a:r>
              <a:rPr lang="en-US" u="none" dirty="0" err="1"/>
              <a:t>ThankYou</a:t>
            </a:r>
            <a:r>
              <a:rPr lang="en-US" u="none"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1897</TotalTime>
  <Words>455</Words>
  <Application>Microsoft Office PowerPoint</Application>
  <PresentationFormat>On-screen Show (16:9)</PresentationFormat>
  <Paragraphs>112</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Roboto</vt:lpstr>
      <vt:lpstr>Times New Roman</vt:lpstr>
      <vt:lpstr>Trebuchet MS</vt:lpstr>
      <vt:lpstr>Office Theme</vt:lpstr>
      <vt:lpstr>Dept. of CS&amp;E ( DATA SCIENCE) Adichunchanagiri Institute of Technology Chikkamagaluru - 577102</vt:lpstr>
      <vt:lpstr>Contents</vt:lpstr>
      <vt:lpstr> Problem Statement</vt:lpstr>
      <vt:lpstr>Scope of the Project    </vt:lpstr>
      <vt:lpstr> Project Design</vt:lpstr>
      <vt:lpstr>PowerPoint Presentation</vt:lpstr>
      <vt:lpstr>PowerPoint Presentation</vt:lpstr>
      <vt:lpstr>    Implementation</vt:lpstr>
      <vt:lpstr>     Challenges Faced</vt:lpstr>
      <vt:lpstr>Result</vt:lpstr>
      <vt:lpstr>PowerPoint Presentation</vt:lpstr>
      <vt:lpstr>Result</vt:lpstr>
      <vt:lpstr>Result</vt:lpstr>
      <vt:lpstr>Result</vt:lpstr>
      <vt:lpstr>Conclusion</vt:lpstr>
      <vt:lpstr>Future Work</vt:lpstr>
      <vt:lpstr>GitHub Link</vt:lpstr>
      <vt:lpstr>   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TEMPLATE.pptx</dc:title>
  <dc:creator>RAMYA</dc:creator>
  <cp:lastModifiedBy>Shalini M B</cp:lastModifiedBy>
  <cp:revision>54</cp:revision>
  <dcterms:created xsi:type="dcterms:W3CDTF">2025-10-25T06:54:31Z</dcterms:created>
  <dcterms:modified xsi:type="dcterms:W3CDTF">2025-11-27T09:42:22Z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2025-10-25T00:00:00Z</vt:filetime>
  </property>
  <property fmtid="{D5CDD505-2E9C-101B-9397-08002B2CF9AE}" pid="3" name="Creator">
    <vt:lpwstr>Google</vt:lpwstr>
  </property>
  <property fmtid="{D5CDD505-2E9C-101B-9397-08002B2CF9AE}" pid="4" name="LastSaved">
    <vt:filetime>2025-10-25T00:00:00Z</vt:filetime>
  </property>
</Properties>
</file>