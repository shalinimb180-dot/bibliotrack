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6" r:id="rId7"/>
    <p:sldId id="262" r:id="rId8"/>
    <p:sldId id="263" r:id="rId9"/>
    <p:sldId id="264" r:id="rId10"/>
    <p:sldId id="267" r:id="rId11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103" d="100"/>
          <a:sy n="103" d="100"/>
        </p:scale>
        <p:origin x="902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2DA9DB-DDFD-4B81-AF54-1E8710C6E9F5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43163"/>
            <a:ext cx="7315200" cy="2314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4738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4738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641CBB-A41C-4F5E-8253-96BC3E1AB30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41CBB-A41C-4F5E-8253-96BC3E1AB304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 u="heavy">
                <a:solidFill>
                  <a:srgbClr val="2A3890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 u="heavy">
                <a:solidFill>
                  <a:srgbClr val="2A3890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 u="heavy">
                <a:solidFill>
                  <a:srgbClr val="2A3890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 u="heavy">
                <a:solidFill>
                  <a:srgbClr val="2A3890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54895" y="3903669"/>
            <a:ext cx="989330" cy="988060"/>
          </a:xfrm>
          <a:custGeom>
            <a:avLst/>
            <a:gdLst/>
            <a:ahLst/>
            <a:cxnLst/>
            <a:rect l="l" t="t" r="r" b="b"/>
            <a:pathLst>
              <a:path w="989329" h="988060">
                <a:moveTo>
                  <a:pt x="989099" y="987899"/>
                </a:moveTo>
                <a:lnTo>
                  <a:pt x="0" y="987899"/>
                </a:lnTo>
                <a:lnTo>
                  <a:pt x="0" y="0"/>
                </a:lnTo>
                <a:lnTo>
                  <a:pt x="989099" y="987899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181163" y="3903669"/>
            <a:ext cx="989330" cy="988060"/>
          </a:xfrm>
          <a:custGeom>
            <a:avLst/>
            <a:gdLst/>
            <a:ahLst/>
            <a:cxnLst/>
            <a:rect l="l" t="t" r="r" b="b"/>
            <a:pathLst>
              <a:path w="989329" h="988060">
                <a:moveTo>
                  <a:pt x="989100" y="987899"/>
                </a:moveTo>
                <a:lnTo>
                  <a:pt x="0" y="987899"/>
                </a:lnTo>
                <a:lnTo>
                  <a:pt x="989100" y="0"/>
                </a:lnTo>
                <a:lnTo>
                  <a:pt x="989100" y="987899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170273" y="3903669"/>
            <a:ext cx="989330" cy="988060"/>
          </a:xfrm>
          <a:custGeom>
            <a:avLst/>
            <a:gdLst/>
            <a:ahLst/>
            <a:cxnLst/>
            <a:rect l="l" t="t" r="r" b="b"/>
            <a:pathLst>
              <a:path w="989329" h="988060">
                <a:moveTo>
                  <a:pt x="989099" y="987899"/>
                </a:moveTo>
                <a:lnTo>
                  <a:pt x="0" y="987899"/>
                </a:lnTo>
                <a:lnTo>
                  <a:pt x="0" y="0"/>
                </a:lnTo>
                <a:lnTo>
                  <a:pt x="989099" y="0"/>
                </a:lnTo>
                <a:lnTo>
                  <a:pt x="989099" y="987899"/>
                </a:lnTo>
                <a:close/>
              </a:path>
            </a:pathLst>
          </a:custGeom>
          <a:solidFill>
            <a:srgbClr val="D133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154757" y="3903681"/>
            <a:ext cx="989330" cy="988060"/>
          </a:xfrm>
          <a:custGeom>
            <a:avLst/>
            <a:gdLst/>
            <a:ahLst/>
            <a:cxnLst/>
            <a:rect l="l" t="t" r="r" b="b"/>
            <a:pathLst>
              <a:path w="989329" h="988060">
                <a:moveTo>
                  <a:pt x="989099" y="987899"/>
                </a:moveTo>
                <a:lnTo>
                  <a:pt x="0" y="0"/>
                </a:lnTo>
                <a:lnTo>
                  <a:pt x="989099" y="0"/>
                </a:lnTo>
                <a:lnTo>
                  <a:pt x="989099" y="987899"/>
                </a:lnTo>
                <a:close/>
              </a:path>
            </a:pathLst>
          </a:custGeom>
          <a:solidFill>
            <a:srgbClr val="9B25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4891594"/>
            <a:ext cx="9144000" cy="252095"/>
          </a:xfrm>
          <a:custGeom>
            <a:avLst/>
            <a:gdLst/>
            <a:ahLst/>
            <a:cxnLst/>
            <a:rect l="l" t="t" r="r" b="b"/>
            <a:pathLst>
              <a:path w="9144000" h="252095">
                <a:moveTo>
                  <a:pt x="9143999" y="251999"/>
                </a:moveTo>
                <a:lnTo>
                  <a:pt x="0" y="251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251999"/>
                </a:lnTo>
                <a:close/>
              </a:path>
            </a:pathLst>
          </a:custGeom>
          <a:solidFill>
            <a:srgbClr val="2A3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3588" y="127230"/>
            <a:ext cx="7160259" cy="9926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 u="heavy">
                <a:solidFill>
                  <a:srgbClr val="2A3890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83853" y="1688786"/>
            <a:ext cx="4117340" cy="1031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62" y="33598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A3890"/>
          </a:solidFill>
        </p:spPr>
        <p:txBody>
          <a:bodyPr wrap="square" lIns="0" tIns="0" rIns="0" bIns="0" rtlCol="0"/>
          <a:lstStyle/>
          <a:p>
            <a:endParaRPr lang="en-IN" dirty="0"/>
          </a:p>
        </p:txBody>
      </p:sp>
      <p:grpSp>
        <p:nvGrpSpPr>
          <p:cNvPr id="3" name="object 3"/>
          <p:cNvGrpSpPr/>
          <p:nvPr/>
        </p:nvGrpSpPr>
        <p:grpSpPr>
          <a:xfrm>
            <a:off x="6092043" y="22363"/>
            <a:ext cx="3046095" cy="2030730"/>
            <a:chOff x="6098378" y="0"/>
            <a:chExt cx="3046095" cy="2030730"/>
          </a:xfrm>
        </p:grpSpPr>
        <p:sp>
          <p:nvSpPr>
            <p:cNvPr id="4" name="object 4"/>
            <p:cNvSpPr/>
            <p:nvPr/>
          </p:nvSpPr>
          <p:spPr>
            <a:xfrm>
              <a:off x="8128803" y="1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212D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13463" y="4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3849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13588" y="10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0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0" y="1015199"/>
                  </a:lnTo>
                  <a:close/>
                </a:path>
              </a:pathLst>
            </a:custGeom>
            <a:solidFill>
              <a:srgbClr val="7890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98378" y="9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212D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28789" y="1015375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4">
                  <a:moveTo>
                    <a:pt x="1015199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7890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184" y="0"/>
              <a:ext cx="1571815" cy="1520464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xfrm>
            <a:off x="76200" y="1445655"/>
            <a:ext cx="8915400" cy="14055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M</a:t>
            </a:r>
            <a:r>
              <a:rPr lang="en-IN" dirty="0" err="1"/>
              <a:t>ini</a:t>
            </a:r>
            <a:r>
              <a:rPr lang="en-IN" dirty="0"/>
              <a:t> </a:t>
            </a:r>
            <a:r>
              <a:rPr dirty="0"/>
              <a:t>Project</a:t>
            </a:r>
            <a:r>
              <a:rPr spc="-80" dirty="0"/>
              <a:t> </a:t>
            </a:r>
            <a:r>
              <a:rPr dirty="0"/>
              <a:t>–</a:t>
            </a:r>
            <a:r>
              <a:rPr spc="-75" dirty="0"/>
              <a:t> </a:t>
            </a:r>
            <a:r>
              <a:rPr dirty="0"/>
              <a:t>Proposal</a:t>
            </a:r>
            <a:r>
              <a:rPr spc="-80" dirty="0"/>
              <a:t> </a:t>
            </a:r>
            <a:r>
              <a:rPr spc="-10" dirty="0"/>
              <a:t>Seminar </a:t>
            </a:r>
            <a:endParaRPr lang="en-US" spc="-10" dirty="0"/>
          </a:p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On</a:t>
            </a:r>
            <a:endParaRPr lang="en-US" spc="-25" dirty="0"/>
          </a:p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lang="en-IN" spc="-25" dirty="0"/>
              <a:t>“</a:t>
            </a:r>
            <a:r>
              <a:rPr lang="en-US" spc="-25" dirty="0" err="1"/>
              <a:t>BiblioTrack</a:t>
            </a:r>
            <a:r>
              <a:rPr lang="en-US" b="0" spc="-25" dirty="0"/>
              <a:t> -</a:t>
            </a:r>
            <a:r>
              <a:rPr lang="en-US" spc="-25" dirty="0"/>
              <a:t>An AI-Powered Bookstore ” </a:t>
            </a:r>
          </a:p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lang="en-US" b="0" spc="-50" dirty="0">
                <a:latin typeface="Times New Roman"/>
                <a:cs typeface="Times New Roman"/>
              </a:rPr>
              <a:t>Group Number - 01 </a:t>
            </a:r>
            <a:endParaRPr b="0" spc="-25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65906" y="3007184"/>
            <a:ext cx="2020894" cy="15978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Roboto"/>
                <a:cs typeface="Roboto"/>
              </a:rPr>
              <a:t>Under</a:t>
            </a:r>
            <a:r>
              <a:rPr sz="1400" b="1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b="1" dirty="0">
                <a:solidFill>
                  <a:srgbClr val="FFFFFF"/>
                </a:solidFill>
                <a:latin typeface="Roboto"/>
                <a:cs typeface="Roboto"/>
              </a:rPr>
              <a:t>the</a:t>
            </a:r>
            <a:r>
              <a:rPr sz="1400" b="1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b="1" dirty="0">
                <a:solidFill>
                  <a:srgbClr val="FFFFFF"/>
                </a:solidFill>
                <a:latin typeface="Roboto"/>
                <a:cs typeface="Roboto"/>
              </a:rPr>
              <a:t>Guidance</a:t>
            </a:r>
            <a:r>
              <a:rPr sz="1400" b="1" spc="-25" dirty="0">
                <a:solidFill>
                  <a:srgbClr val="FFFFFF"/>
                </a:solidFill>
                <a:latin typeface="Roboto"/>
                <a:cs typeface="Roboto"/>
              </a:rPr>
              <a:t> Of</a:t>
            </a:r>
            <a:r>
              <a:rPr lang="en-US" sz="1400" b="1" spc="-25" dirty="0">
                <a:solidFill>
                  <a:srgbClr val="FFFFFF"/>
                </a:solidFill>
                <a:latin typeface="Roboto"/>
                <a:cs typeface="Roboto"/>
              </a:rPr>
              <a:t>,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400" b="1" spc="-25" dirty="0">
              <a:solidFill>
                <a:srgbClr val="FFFFFF"/>
              </a:solidFill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spc="-25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Prof.Gagana</a:t>
            </a:r>
            <a:r>
              <a:rPr lang="en-US" sz="1400" b="1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spc="-25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Deepa</a:t>
            </a:r>
            <a:r>
              <a:rPr lang="en-US" sz="1400" b="1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</a:t>
            </a:r>
            <a:r>
              <a:rPr lang="en-US" sz="14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Asst. Professor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Dept  of  Data Science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AIT, </a:t>
            </a:r>
            <a:r>
              <a:rPr lang="en-US" sz="1400" dirty="0" err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Chikkamagaluru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400" b="1" spc="-25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8786" y="3007184"/>
            <a:ext cx="4127014" cy="13696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Roboto"/>
                <a:cs typeface="Roboto"/>
              </a:rPr>
              <a:t>Presented</a:t>
            </a:r>
            <a:r>
              <a:rPr sz="1400" b="1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b="1" spc="-35" dirty="0">
                <a:solidFill>
                  <a:srgbClr val="FFFFFF"/>
                </a:solidFill>
                <a:latin typeface="Roboto"/>
                <a:cs typeface="Roboto"/>
              </a:rPr>
              <a:t>By, </a:t>
            </a:r>
            <a:endParaRPr lang="en-US" sz="1400" b="1" spc="-35" dirty="0">
              <a:solidFill>
                <a:srgbClr val="FFFFFF"/>
              </a:solidFill>
              <a:latin typeface="Roboto"/>
              <a:cs typeface="Roboto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en-IN" sz="1400" b="1" spc="-35" dirty="0">
              <a:solidFill>
                <a:srgbClr val="FFFFFF"/>
              </a:solidFill>
              <a:latin typeface="Roboto"/>
              <a:cs typeface="Roboto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Harshitha S (4AI23CD019)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Prajna K S (4AI23CD038)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Ramya Manjunath Gouda (4AI23CD041)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Shalini M B (4AI23CD048)</a:t>
            </a:r>
            <a:endParaRPr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3750" y="64025"/>
            <a:ext cx="1352224" cy="1381624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145852" y="271557"/>
            <a:ext cx="424942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1800" u="none" dirty="0">
                <a:solidFill>
                  <a:srgbClr val="F1F1F1"/>
                </a:solidFill>
              </a:rPr>
              <a:t>Dept.</a:t>
            </a:r>
            <a:r>
              <a:rPr sz="1800" u="none" spc="-35" dirty="0">
                <a:solidFill>
                  <a:srgbClr val="F1F1F1"/>
                </a:solidFill>
              </a:rPr>
              <a:t> </a:t>
            </a:r>
            <a:r>
              <a:rPr sz="1800" u="none" dirty="0">
                <a:solidFill>
                  <a:srgbClr val="F1F1F1"/>
                </a:solidFill>
              </a:rPr>
              <a:t>of</a:t>
            </a:r>
            <a:r>
              <a:rPr sz="1800" u="none" spc="-30" dirty="0">
                <a:solidFill>
                  <a:srgbClr val="F1F1F1"/>
                </a:solidFill>
              </a:rPr>
              <a:t> </a:t>
            </a:r>
            <a:r>
              <a:rPr sz="1800" u="none" dirty="0">
                <a:solidFill>
                  <a:srgbClr val="F1F1F1"/>
                </a:solidFill>
              </a:rPr>
              <a:t>CS&amp;E</a:t>
            </a:r>
            <a:r>
              <a:rPr sz="1800" u="none" spc="-30" dirty="0">
                <a:solidFill>
                  <a:srgbClr val="F1F1F1"/>
                </a:solidFill>
              </a:rPr>
              <a:t> </a:t>
            </a:r>
            <a:r>
              <a:rPr sz="1800" u="none" dirty="0">
                <a:solidFill>
                  <a:srgbClr val="F1F1F1"/>
                </a:solidFill>
              </a:rPr>
              <a:t>(</a:t>
            </a:r>
            <a:r>
              <a:rPr sz="1800" u="none" spc="-30" dirty="0">
                <a:solidFill>
                  <a:srgbClr val="F1F1F1"/>
                </a:solidFill>
              </a:rPr>
              <a:t> </a:t>
            </a:r>
            <a:r>
              <a:rPr sz="1800" u="none" dirty="0">
                <a:solidFill>
                  <a:srgbClr val="F1F1F1"/>
                </a:solidFill>
              </a:rPr>
              <a:t>DATA</a:t>
            </a:r>
            <a:r>
              <a:rPr sz="1800" u="none" spc="-30" dirty="0">
                <a:solidFill>
                  <a:srgbClr val="F1F1F1"/>
                </a:solidFill>
              </a:rPr>
              <a:t> </a:t>
            </a:r>
            <a:r>
              <a:rPr sz="1800" u="none" spc="-10" dirty="0">
                <a:solidFill>
                  <a:srgbClr val="F1F1F1"/>
                </a:solidFill>
              </a:rPr>
              <a:t>SCIENCE)</a:t>
            </a:r>
            <a:endParaRPr sz="1800"/>
          </a:p>
          <a:p>
            <a:pPr marL="12700" marR="5080" algn="ctr">
              <a:lnSpc>
                <a:spcPct val="100000"/>
              </a:lnSpc>
            </a:pPr>
            <a:r>
              <a:rPr sz="1800" u="none" dirty="0">
                <a:solidFill>
                  <a:srgbClr val="F1F1F1"/>
                </a:solidFill>
              </a:rPr>
              <a:t>Adichunchanagiri</a:t>
            </a:r>
            <a:r>
              <a:rPr sz="1800" u="none" spc="-35" dirty="0">
                <a:solidFill>
                  <a:srgbClr val="F1F1F1"/>
                </a:solidFill>
              </a:rPr>
              <a:t> </a:t>
            </a:r>
            <a:r>
              <a:rPr sz="1800" u="none" spc="-10" dirty="0">
                <a:solidFill>
                  <a:srgbClr val="F1F1F1"/>
                </a:solidFill>
              </a:rPr>
              <a:t>Institute</a:t>
            </a:r>
            <a:r>
              <a:rPr sz="1800" u="none" spc="-35" dirty="0">
                <a:solidFill>
                  <a:srgbClr val="F1F1F1"/>
                </a:solidFill>
              </a:rPr>
              <a:t> </a:t>
            </a:r>
            <a:r>
              <a:rPr sz="1800" u="none" dirty="0">
                <a:solidFill>
                  <a:srgbClr val="F1F1F1"/>
                </a:solidFill>
              </a:rPr>
              <a:t>of</a:t>
            </a:r>
            <a:r>
              <a:rPr sz="1800" u="none" spc="-80" dirty="0">
                <a:solidFill>
                  <a:srgbClr val="F1F1F1"/>
                </a:solidFill>
              </a:rPr>
              <a:t> </a:t>
            </a:r>
            <a:r>
              <a:rPr sz="1800" u="none" spc="-10" dirty="0">
                <a:solidFill>
                  <a:srgbClr val="F1F1F1"/>
                </a:solidFill>
              </a:rPr>
              <a:t>Technology </a:t>
            </a:r>
            <a:r>
              <a:rPr sz="1800" u="none" dirty="0">
                <a:solidFill>
                  <a:srgbClr val="F1F1F1"/>
                </a:solidFill>
              </a:rPr>
              <a:t>Chikkamagaluru</a:t>
            </a:r>
            <a:r>
              <a:rPr sz="1800" u="none" spc="-80" dirty="0">
                <a:solidFill>
                  <a:srgbClr val="F1F1F1"/>
                </a:solidFill>
              </a:rPr>
              <a:t> </a:t>
            </a:r>
            <a:r>
              <a:rPr sz="1800" u="none" dirty="0">
                <a:solidFill>
                  <a:srgbClr val="F1F1F1"/>
                </a:solidFill>
              </a:rPr>
              <a:t>-</a:t>
            </a:r>
            <a:r>
              <a:rPr sz="1800" u="none" spc="-75" dirty="0">
                <a:solidFill>
                  <a:srgbClr val="F1F1F1"/>
                </a:solidFill>
              </a:rPr>
              <a:t> </a:t>
            </a:r>
            <a:r>
              <a:rPr sz="1800" u="none" spc="-10" dirty="0">
                <a:solidFill>
                  <a:srgbClr val="F1F1F1"/>
                </a:solidFill>
              </a:rPr>
              <a:t>577102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54895" y="3903669"/>
            <a:ext cx="989330" cy="988060"/>
          </a:xfrm>
          <a:custGeom>
            <a:avLst/>
            <a:gdLst/>
            <a:ahLst/>
            <a:cxnLst/>
            <a:rect l="l" t="t" r="r" b="b"/>
            <a:pathLst>
              <a:path w="989329" h="988060">
                <a:moveTo>
                  <a:pt x="989099" y="987899"/>
                </a:moveTo>
                <a:lnTo>
                  <a:pt x="0" y="987899"/>
                </a:lnTo>
                <a:lnTo>
                  <a:pt x="0" y="0"/>
                </a:lnTo>
                <a:lnTo>
                  <a:pt x="989099" y="987899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3903669"/>
            <a:ext cx="9144000" cy="1240155"/>
            <a:chOff x="0" y="3903669"/>
            <a:chExt cx="9144000" cy="1240155"/>
          </a:xfrm>
        </p:grpSpPr>
        <p:sp>
          <p:nvSpPr>
            <p:cNvPr id="4" name="object 4"/>
            <p:cNvSpPr/>
            <p:nvPr/>
          </p:nvSpPr>
          <p:spPr>
            <a:xfrm>
              <a:off x="6181163" y="3903669"/>
              <a:ext cx="989330" cy="988060"/>
            </a:xfrm>
            <a:custGeom>
              <a:avLst/>
              <a:gdLst/>
              <a:ahLst/>
              <a:cxnLst/>
              <a:rect l="l" t="t" r="r" b="b"/>
              <a:pathLst>
                <a:path w="989329" h="988060">
                  <a:moveTo>
                    <a:pt x="989100" y="987899"/>
                  </a:moveTo>
                  <a:lnTo>
                    <a:pt x="0" y="987899"/>
                  </a:lnTo>
                  <a:lnTo>
                    <a:pt x="989100" y="0"/>
                  </a:lnTo>
                  <a:lnTo>
                    <a:pt x="989100" y="987899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70273" y="3903669"/>
              <a:ext cx="989330" cy="988060"/>
            </a:xfrm>
            <a:custGeom>
              <a:avLst/>
              <a:gdLst/>
              <a:ahLst/>
              <a:cxnLst/>
              <a:rect l="l" t="t" r="r" b="b"/>
              <a:pathLst>
                <a:path w="989329" h="988060">
                  <a:moveTo>
                    <a:pt x="989099" y="987899"/>
                  </a:moveTo>
                  <a:lnTo>
                    <a:pt x="0" y="987899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987899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54757" y="3903681"/>
              <a:ext cx="989330" cy="988060"/>
            </a:xfrm>
            <a:custGeom>
              <a:avLst/>
              <a:gdLst/>
              <a:ahLst/>
              <a:cxnLst/>
              <a:rect l="l" t="t" r="r" b="b"/>
              <a:pathLst>
                <a:path w="989329" h="988060">
                  <a:moveTo>
                    <a:pt x="989099" y="987899"/>
                  </a:moveTo>
                  <a:lnTo>
                    <a:pt x="0" y="0"/>
                  </a:lnTo>
                  <a:lnTo>
                    <a:pt x="989099" y="0"/>
                  </a:lnTo>
                  <a:lnTo>
                    <a:pt x="989099" y="9878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4891594"/>
              <a:ext cx="9144000" cy="252095"/>
            </a:xfrm>
            <a:custGeom>
              <a:avLst/>
              <a:gdLst/>
              <a:ahLst/>
              <a:cxnLst/>
              <a:rect l="l" t="t" r="r" b="b"/>
              <a:pathLst>
                <a:path w="9144000" h="252095">
                  <a:moveTo>
                    <a:pt x="9143999" y="251999"/>
                  </a:moveTo>
                  <a:lnTo>
                    <a:pt x="0" y="2519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251999"/>
                  </a:lnTo>
                  <a:close/>
                </a:path>
              </a:pathLst>
            </a:custGeom>
            <a:solidFill>
              <a:srgbClr val="2A38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886474" y="127230"/>
            <a:ext cx="159992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AGEND</a:t>
            </a:r>
            <a:r>
              <a:rPr lang="en-IN" spc="-10" dirty="0"/>
              <a:t>A</a:t>
            </a:r>
            <a:endParaRPr spc="-10" dirty="0"/>
          </a:p>
        </p:txBody>
      </p:sp>
      <p:sp>
        <p:nvSpPr>
          <p:cNvPr id="9" name="object 9"/>
          <p:cNvSpPr txBox="1"/>
          <p:nvPr/>
        </p:nvSpPr>
        <p:spPr>
          <a:xfrm>
            <a:off x="475249" y="742464"/>
            <a:ext cx="3192780" cy="296989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79095" indent="-366395" algn="just">
              <a:lnSpc>
                <a:spcPct val="100000"/>
              </a:lnSpc>
              <a:spcBef>
                <a:spcPts val="530"/>
              </a:spcBef>
              <a:buSzPct val="75000"/>
              <a:buFont typeface="Arial"/>
              <a:buChar char="●"/>
              <a:tabLst>
                <a:tab pos="379095" algn="l"/>
              </a:tabLst>
            </a:pPr>
            <a:r>
              <a:rPr sz="2400" b="1" dirty="0">
                <a:solidFill>
                  <a:srgbClr val="434343"/>
                </a:solidFill>
                <a:latin typeface="Times New Roman"/>
                <a:cs typeface="Times New Roman"/>
              </a:rPr>
              <a:t>About</a:t>
            </a:r>
            <a:r>
              <a:rPr sz="2400" b="1" spc="-5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34343"/>
                </a:solidFill>
                <a:latin typeface="Times New Roman"/>
                <a:cs typeface="Times New Roman"/>
              </a:rPr>
              <a:t>the</a:t>
            </a:r>
            <a:r>
              <a:rPr sz="2400" b="1" spc="-6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34343"/>
                </a:solidFill>
                <a:latin typeface="Times New Roman"/>
                <a:cs typeface="Times New Roman"/>
              </a:rPr>
              <a:t>Project</a:t>
            </a:r>
            <a:endParaRPr sz="2400" dirty="0">
              <a:latin typeface="Times New Roman"/>
              <a:cs typeface="Times New Roman"/>
            </a:endParaRPr>
          </a:p>
          <a:p>
            <a:pPr marL="379095" indent="-366395" algn="just">
              <a:lnSpc>
                <a:spcPct val="100000"/>
              </a:lnSpc>
              <a:spcBef>
                <a:spcPts val="430"/>
              </a:spcBef>
              <a:buSzPct val="75000"/>
              <a:buFont typeface="Arial"/>
              <a:buChar char="●"/>
              <a:tabLst>
                <a:tab pos="379095" algn="l"/>
              </a:tabLst>
            </a:pPr>
            <a:r>
              <a:rPr sz="2400" b="1" spc="-10" dirty="0">
                <a:solidFill>
                  <a:srgbClr val="434343"/>
                </a:solidFill>
                <a:latin typeface="Times New Roman"/>
                <a:cs typeface="Times New Roman"/>
              </a:rPr>
              <a:t>Motivation</a:t>
            </a:r>
            <a:endParaRPr sz="2400" dirty="0">
              <a:latin typeface="Times New Roman"/>
              <a:cs typeface="Times New Roman"/>
            </a:endParaRPr>
          </a:p>
          <a:p>
            <a:pPr marL="379095" indent="-366395" algn="just">
              <a:lnSpc>
                <a:spcPct val="100000"/>
              </a:lnSpc>
              <a:spcBef>
                <a:spcPts val="434"/>
              </a:spcBef>
              <a:buSzPct val="75000"/>
              <a:buFont typeface="Arial"/>
              <a:buChar char="●"/>
              <a:tabLst>
                <a:tab pos="379095" algn="l"/>
              </a:tabLst>
            </a:pPr>
            <a:r>
              <a:rPr sz="2400" b="1" dirty="0">
                <a:solidFill>
                  <a:srgbClr val="434343"/>
                </a:solidFill>
                <a:latin typeface="Times New Roman"/>
                <a:cs typeface="Times New Roman"/>
              </a:rPr>
              <a:t>Existing </a:t>
            </a:r>
            <a:r>
              <a:rPr sz="2400" b="1" spc="-10" dirty="0">
                <a:solidFill>
                  <a:srgbClr val="434343"/>
                </a:solidFill>
                <a:latin typeface="Times New Roman"/>
                <a:cs typeface="Times New Roman"/>
              </a:rPr>
              <a:t>System</a:t>
            </a:r>
            <a:endParaRPr sz="2400" dirty="0">
              <a:latin typeface="Times New Roman"/>
              <a:cs typeface="Times New Roman"/>
            </a:endParaRPr>
          </a:p>
          <a:p>
            <a:pPr marL="379095" indent="-366395" algn="just">
              <a:lnSpc>
                <a:spcPct val="100000"/>
              </a:lnSpc>
              <a:spcBef>
                <a:spcPts val="430"/>
              </a:spcBef>
              <a:buSzPct val="75000"/>
              <a:buFont typeface="Arial"/>
              <a:buChar char="●"/>
              <a:tabLst>
                <a:tab pos="379095" algn="l"/>
              </a:tabLst>
            </a:pPr>
            <a:r>
              <a:rPr sz="2400" b="1" spc="-10" dirty="0">
                <a:solidFill>
                  <a:srgbClr val="434343"/>
                </a:solidFill>
                <a:latin typeface="Times New Roman"/>
                <a:cs typeface="Times New Roman"/>
              </a:rPr>
              <a:t>Proposed</a:t>
            </a:r>
            <a:r>
              <a:rPr sz="2400" b="1" spc="-8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34343"/>
                </a:solidFill>
                <a:latin typeface="Times New Roman"/>
                <a:cs typeface="Times New Roman"/>
              </a:rPr>
              <a:t>System</a:t>
            </a:r>
            <a:endParaRPr sz="2400" dirty="0">
              <a:latin typeface="Times New Roman"/>
              <a:cs typeface="Times New Roman"/>
            </a:endParaRPr>
          </a:p>
          <a:p>
            <a:pPr marL="379095" indent="-366395" algn="just">
              <a:lnSpc>
                <a:spcPct val="100000"/>
              </a:lnSpc>
              <a:spcBef>
                <a:spcPts val="434"/>
              </a:spcBef>
              <a:buSzPct val="75000"/>
              <a:buFont typeface="Arial"/>
              <a:buChar char="●"/>
              <a:tabLst>
                <a:tab pos="379095" algn="l"/>
              </a:tabLst>
            </a:pPr>
            <a:r>
              <a:rPr sz="2400" b="1" dirty="0">
                <a:solidFill>
                  <a:srgbClr val="434343"/>
                </a:solidFill>
                <a:latin typeface="Times New Roman"/>
                <a:cs typeface="Times New Roman"/>
              </a:rPr>
              <a:t>Problem</a:t>
            </a:r>
            <a:r>
              <a:rPr sz="2400" b="1" spc="-5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34343"/>
                </a:solidFill>
                <a:latin typeface="Times New Roman"/>
                <a:cs typeface="Times New Roman"/>
              </a:rPr>
              <a:t>Statement</a:t>
            </a:r>
            <a:endParaRPr sz="2400" dirty="0">
              <a:latin typeface="Times New Roman"/>
              <a:cs typeface="Times New Roman"/>
            </a:endParaRPr>
          </a:p>
          <a:p>
            <a:pPr marL="379095" indent="-366395" algn="just">
              <a:lnSpc>
                <a:spcPct val="100000"/>
              </a:lnSpc>
              <a:spcBef>
                <a:spcPts val="430"/>
              </a:spcBef>
              <a:buSzPct val="75000"/>
              <a:buFont typeface="Arial"/>
              <a:buChar char="●"/>
              <a:tabLst>
                <a:tab pos="379095" algn="l"/>
              </a:tabLst>
            </a:pPr>
            <a:r>
              <a:rPr sz="2400" b="1" spc="-25" dirty="0">
                <a:solidFill>
                  <a:srgbClr val="434343"/>
                </a:solidFill>
                <a:latin typeface="Times New Roman"/>
                <a:cs typeface="Times New Roman"/>
              </a:rPr>
              <a:t>Tools</a:t>
            </a:r>
            <a:r>
              <a:rPr sz="2400" b="1" spc="-9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34343"/>
                </a:solidFill>
                <a:latin typeface="Times New Roman"/>
                <a:cs typeface="Times New Roman"/>
              </a:rPr>
              <a:t>and</a:t>
            </a:r>
            <a:r>
              <a:rPr sz="2400" b="1" spc="-12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34343"/>
                </a:solidFill>
                <a:latin typeface="Times New Roman"/>
                <a:cs typeface="Times New Roman"/>
              </a:rPr>
              <a:t>Technology</a:t>
            </a:r>
            <a:endParaRPr sz="2400" dirty="0">
              <a:latin typeface="Times New Roman"/>
              <a:cs typeface="Times New Roman"/>
            </a:endParaRPr>
          </a:p>
          <a:p>
            <a:pPr marL="379095" indent="-366395" algn="just">
              <a:lnSpc>
                <a:spcPct val="100000"/>
              </a:lnSpc>
              <a:spcBef>
                <a:spcPts val="430"/>
              </a:spcBef>
              <a:buSzPct val="75000"/>
              <a:buFont typeface="Arial"/>
              <a:buChar char="●"/>
              <a:tabLst>
                <a:tab pos="379095" algn="l"/>
              </a:tabLst>
            </a:pPr>
            <a:r>
              <a:rPr sz="2400" b="1" dirty="0">
                <a:solidFill>
                  <a:srgbClr val="434343"/>
                </a:solidFill>
                <a:latin typeface="Times New Roman"/>
                <a:cs typeface="Times New Roman"/>
              </a:rPr>
              <a:t>Expected</a:t>
            </a:r>
            <a:r>
              <a:rPr sz="2400" b="1" spc="-4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434343"/>
                </a:solidFill>
                <a:latin typeface="Times New Roman"/>
                <a:cs typeface="Times New Roman"/>
              </a:rPr>
              <a:t>Outcomes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209550"/>
            <a:ext cx="6398259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8535">
              <a:lnSpc>
                <a:spcPct val="100000"/>
              </a:lnSpc>
              <a:spcBef>
                <a:spcPts val="100"/>
              </a:spcBef>
            </a:pPr>
            <a:r>
              <a:rPr dirty="0"/>
              <a:t>ABOUT</a:t>
            </a:r>
            <a:r>
              <a:rPr spc="-60" dirty="0"/>
              <a:t> </a:t>
            </a:r>
            <a:r>
              <a:rPr dirty="0"/>
              <a:t>THE</a:t>
            </a:r>
            <a:r>
              <a:rPr spc="105" dirty="0"/>
              <a:t> </a:t>
            </a:r>
            <a:r>
              <a:rPr spc="-10" dirty="0"/>
              <a:t>PROJEC</a:t>
            </a:r>
            <a:r>
              <a:rPr lang="en-US" spc="-10" dirty="0"/>
              <a:t>T</a:t>
            </a:r>
            <a:endParaRPr b="0" u="none" spc="-10" dirty="0"/>
          </a:p>
        </p:txBody>
      </p:sp>
      <p:sp>
        <p:nvSpPr>
          <p:cNvPr id="5" name="Rectangle 4"/>
          <p:cNvSpPr/>
          <p:nvPr/>
        </p:nvSpPr>
        <p:spPr>
          <a:xfrm>
            <a:off x="381000" y="1047750"/>
            <a:ext cx="8305800" cy="2120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An AI-powered bookstore for book discovery.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Personalized recommendations to every reader.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Smart visual search to find books instantly.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AI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chatbot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assistant for quick help and support.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Admin panel with real-time analytics and inventory tracking.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0400" y="127230"/>
            <a:ext cx="4713447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MOTIVATION</a:t>
            </a:r>
            <a:endParaRPr b="0" u="none" spc="-10" dirty="0">
              <a:latin typeface="Roboto"/>
              <a:cs typeface="Robo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896B5A-A7FE-1690-7C8E-7C8F1A9F31B2}"/>
              </a:ext>
            </a:extLst>
          </p:cNvPr>
          <p:cNvSpPr txBox="1"/>
          <p:nvPr/>
        </p:nvSpPr>
        <p:spPr>
          <a:xfrm>
            <a:off x="457199" y="863590"/>
            <a:ext cx="745664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large libraries or bookstores manually is slow and inefficient.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Readers find it hard to discover books that suit their interests or recognize them visually.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online bookstore systems offer limited personalization and lack AI-driven recommendations or visual search.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BiblioTrack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solution that enhances book discovery, streamlines management, and connects readers with sellers through intelligent insights.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588" y="127230"/>
            <a:ext cx="7160259" cy="547891"/>
          </a:xfrm>
          <a:prstGeom prst="rect">
            <a:avLst/>
          </a:prstGeom>
        </p:spPr>
        <p:txBody>
          <a:bodyPr vert="horz" wrap="square" lIns="0" tIns="131112" rIns="0" bIns="0" rtlCol="0">
            <a:spAutoFit/>
          </a:bodyPr>
          <a:lstStyle/>
          <a:p>
            <a:pPr marL="2075814">
              <a:lnSpc>
                <a:spcPct val="100000"/>
              </a:lnSpc>
              <a:spcBef>
                <a:spcPts val="100"/>
              </a:spcBef>
            </a:pPr>
            <a:r>
              <a:rPr dirty="0"/>
              <a:t>EX</a:t>
            </a:r>
            <a:r>
              <a:rPr lang="en-IN" dirty="0"/>
              <a:t>IS</a:t>
            </a:r>
            <a:r>
              <a:rPr dirty="0"/>
              <a:t>TING</a:t>
            </a:r>
            <a:r>
              <a:rPr spc="95" dirty="0"/>
              <a:t> </a:t>
            </a:r>
            <a:r>
              <a:rPr spc="-10" dirty="0"/>
              <a:t>SYSTEM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B0DDDF9-8259-FDD3-8742-007AEB916B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329262"/>
              </p:ext>
            </p:extLst>
          </p:nvPr>
        </p:nvGraphicFramePr>
        <p:xfrm>
          <a:off x="228600" y="819150"/>
          <a:ext cx="8686800" cy="29717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43400">
                  <a:extLst>
                    <a:ext uri="{9D8B030D-6E8A-4147-A177-3AD203B41FA5}">
                      <a16:colId xmlns:a16="http://schemas.microsoft.com/office/drawing/2014/main" val="4058303279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1397042596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l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EXISTING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PROPOSED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361952"/>
                  </a:ext>
                </a:extLst>
              </a:tr>
              <a:tr h="650081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Relies mainly on keyword-based search.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Includes AI-powered  visual search.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526838"/>
                  </a:ext>
                </a:extLst>
              </a:tr>
              <a:tr h="650081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recommendation engines often rule-based or static.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AI-driven personalized recommendations using user interests and preferences.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8493444"/>
                  </a:ext>
                </a:extLst>
              </a:tr>
              <a:tr h="650081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primarily on browsing and purchasing.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Offers a intelligent discovery based on user interest and history.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317786"/>
                  </a:ext>
                </a:extLst>
              </a:tr>
              <a:tr h="650081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Usually limited to reviews or ratings.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Introduces book clubs for interactive communication.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4763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95600" y="285750"/>
            <a:ext cx="364779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b="1" u="sng" dirty="0">
                <a:solidFill>
                  <a:schemeClr val="tx2"/>
                </a:solidFill>
              </a:rPr>
              <a:t>PROPOSED</a:t>
            </a:r>
            <a:r>
              <a:rPr lang="en-US" sz="2700" b="1" u="sng" spc="-85" dirty="0">
                <a:solidFill>
                  <a:schemeClr val="tx2"/>
                </a:solidFill>
              </a:rPr>
              <a:t> </a:t>
            </a:r>
            <a:r>
              <a:rPr lang="en-US" sz="2700" b="1" u="sng" spc="-10" dirty="0">
                <a:solidFill>
                  <a:schemeClr val="tx2"/>
                </a:solidFill>
              </a:rPr>
              <a:t>SYSTEM</a:t>
            </a:r>
            <a:endParaRPr lang="en-US" sz="2700" b="1" u="sng" dirty="0">
              <a:solidFill>
                <a:schemeClr val="tx2"/>
              </a:solidFill>
            </a:endParaRPr>
          </a:p>
        </p:txBody>
      </p:sp>
      <p:pic>
        <p:nvPicPr>
          <p:cNvPr id="3" name="Picture 2" descr="A diagram of a bookkeeping system&#10;&#10;AI-generated content may be incorrect.">
            <a:extLst>
              <a:ext uri="{FF2B5EF4-FFF2-40B4-BE49-F238E27FC236}">
                <a16:creationId xmlns:a16="http://schemas.microsoft.com/office/drawing/2014/main" id="{024BE1B4-D975-0AAD-7218-B04A91383C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874" y="812631"/>
            <a:ext cx="6096252" cy="406416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87985D1-EC47-DF3A-40AD-7D4083D0E613}"/>
              </a:ext>
            </a:extLst>
          </p:cNvPr>
          <p:cNvSpPr/>
          <p:nvPr/>
        </p:nvSpPr>
        <p:spPr>
          <a:xfrm>
            <a:off x="1752600" y="1581150"/>
            <a:ext cx="1066800" cy="2286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B232296-9141-6A74-0D53-A7E65B74862D}"/>
              </a:ext>
            </a:extLst>
          </p:cNvPr>
          <p:cNvCxnSpPr>
            <a:cxnSpLocks/>
          </p:cNvCxnSpPr>
          <p:nvPr/>
        </p:nvCxnSpPr>
        <p:spPr>
          <a:xfrm>
            <a:off x="2895600" y="1695450"/>
            <a:ext cx="228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6BC3680-B1ED-5200-1674-DCA5482C5F34}"/>
              </a:ext>
            </a:extLst>
          </p:cNvPr>
          <p:cNvCxnSpPr>
            <a:cxnSpLocks/>
          </p:cNvCxnSpPr>
          <p:nvPr/>
        </p:nvCxnSpPr>
        <p:spPr>
          <a:xfrm>
            <a:off x="4719496" y="4171950"/>
            <a:ext cx="0" cy="22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E0F2BC26-5FF7-C723-09AA-5F32C03A79D3}"/>
              </a:ext>
            </a:extLst>
          </p:cNvPr>
          <p:cNvSpPr/>
          <p:nvPr/>
        </p:nvSpPr>
        <p:spPr>
          <a:xfrm>
            <a:off x="4424505" y="4476750"/>
            <a:ext cx="609600" cy="2286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/>
              <a:t>End</a:t>
            </a:r>
            <a:r>
              <a:rPr lang="en-IN" dirty="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130" rIns="0" bIns="0" rtlCol="0">
            <a:spAutoFit/>
          </a:bodyPr>
          <a:lstStyle/>
          <a:p>
            <a:pPr marL="197993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140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4E855E-F6F5-9A5D-74F3-8550FB5AE8CE}"/>
              </a:ext>
            </a:extLst>
          </p:cNvPr>
          <p:cNvSpPr txBox="1"/>
          <p:nvPr/>
        </p:nvSpPr>
        <p:spPr>
          <a:xfrm>
            <a:off x="304800" y="1047750"/>
            <a:ext cx="8839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To design an AI-powered online bookstore that goes beyond simple search and purchase by offering smart recommendations, interactive features, and personalized book discovery for better user engagement</a:t>
            </a:r>
            <a:r>
              <a:rPr lang="en-US" dirty="0"/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35760">
              <a:lnSpc>
                <a:spcPct val="100000"/>
              </a:lnSpc>
              <a:spcBef>
                <a:spcPts val="100"/>
              </a:spcBef>
            </a:pPr>
            <a:r>
              <a:rPr dirty="0"/>
              <a:t>TOOLS AND</a:t>
            </a:r>
            <a:r>
              <a:rPr spc="-75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155575" y="1200150"/>
            <a:ext cx="502602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Frontend 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HTML, CSS, JavaScript</a:t>
            </a:r>
          </a:p>
          <a:p>
            <a:pPr algn="just">
              <a:buFont typeface="Arial" pitchFamily="34" charset="0"/>
              <a:buChar char="•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Backend  :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Django Framework</a:t>
            </a:r>
          </a:p>
          <a:p>
            <a:pPr algn="just">
              <a:buFont typeface="Arial" pitchFamily="34" charset="0"/>
              <a:buChar char="•"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Database :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SQLite </a:t>
            </a:r>
          </a:p>
          <a:p>
            <a:pPr algn="just">
              <a:buFont typeface="Arial" pitchFamily="34" charset="0"/>
              <a:buChar char="•"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AI&amp;ML 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TensorFlow.js</a:t>
            </a:r>
          </a:p>
          <a:p>
            <a:pPr>
              <a:buFont typeface="Arial" pitchFamily="34" charset="0"/>
              <a:buChar char="•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4" name="AutoShape 2" descr="Generat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196" name="AutoShape 4" descr="Generat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8485" rIns="0" bIns="0" rtlCol="0">
            <a:spAutoFit/>
          </a:bodyPr>
          <a:lstStyle/>
          <a:p>
            <a:pPr marL="1969135">
              <a:lnSpc>
                <a:spcPct val="100000"/>
              </a:lnSpc>
              <a:spcBef>
                <a:spcPts val="100"/>
              </a:spcBef>
            </a:pPr>
            <a:r>
              <a:rPr dirty="0"/>
              <a:t>EXPECTED</a:t>
            </a:r>
            <a:r>
              <a:rPr spc="85" dirty="0"/>
              <a:t> </a:t>
            </a:r>
            <a:r>
              <a:rPr spc="-10" dirty="0"/>
              <a:t>OUTCOMES</a:t>
            </a: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028950"/>
            <a:ext cx="4876800" cy="1486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FE6ED3D-7147-0942-C787-CDD79BE83C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6565" y="613667"/>
            <a:ext cx="7913847" cy="22581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4200" y="1809750"/>
            <a:ext cx="2294412" cy="415498"/>
          </a:xfrm>
        </p:spPr>
        <p:txBody>
          <a:bodyPr/>
          <a:lstStyle/>
          <a:p>
            <a:r>
              <a:rPr lang="en-US" u="none" dirty="0"/>
              <a:t>   </a:t>
            </a:r>
            <a:r>
              <a:rPr lang="en-US" u="none" dirty="0" err="1"/>
              <a:t>ThankYou</a:t>
            </a:r>
            <a:r>
              <a:rPr lang="en-US" u="none" dirty="0"/>
              <a:t>!!!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967</TotalTime>
  <Words>347</Words>
  <Application>Microsoft Office PowerPoint</Application>
  <PresentationFormat>On-screen Show (16:9)</PresentationFormat>
  <Paragraphs>67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Roboto</vt:lpstr>
      <vt:lpstr>Times New Roman</vt:lpstr>
      <vt:lpstr>Trebuchet MS</vt:lpstr>
      <vt:lpstr>Office Theme</vt:lpstr>
      <vt:lpstr>Dept. of CS&amp;E ( DATA SCIENCE) Adichunchanagiri Institute of Technology Chikkamagaluru - 577102</vt:lpstr>
      <vt:lpstr>AGENDA</vt:lpstr>
      <vt:lpstr>ABOUT THE PROJECT</vt:lpstr>
      <vt:lpstr>MOTIVATION</vt:lpstr>
      <vt:lpstr>EXISTING SYSTEM</vt:lpstr>
      <vt:lpstr>PowerPoint Presentation</vt:lpstr>
      <vt:lpstr>PROBLEM STATEMENT</vt:lpstr>
      <vt:lpstr>TOOLS AND TECHNOLOGY</vt:lpstr>
      <vt:lpstr>EXPECTED OUTCOMES</vt:lpstr>
      <vt:lpstr>   ThankYou!!!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TEMPLATE.pptx</dc:title>
  <dc:creator>RAMYA</dc:creator>
  <cp:lastModifiedBy>Jenitha SP</cp:lastModifiedBy>
  <cp:revision>41</cp:revision>
  <dcterms:created xsi:type="dcterms:W3CDTF">2025-10-25T06:54:31Z</dcterms:created>
  <dcterms:modified xsi:type="dcterms:W3CDTF">2025-10-30T09:39:35Z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2025-10-25T00:00:00Z</vt:filetime>
  </property>
  <property fmtid="{D5CDD505-2E9C-101B-9397-08002B2CF9AE}" pid="3" name="Creator">
    <vt:lpwstr>Google</vt:lpwstr>
  </property>
  <property fmtid="{D5CDD505-2E9C-101B-9397-08002B2CF9AE}" pid="4" name="LastSaved">
    <vt:filetime>2025-10-25T00:00:00Z</vt:filetime>
  </property>
</Properties>
</file>